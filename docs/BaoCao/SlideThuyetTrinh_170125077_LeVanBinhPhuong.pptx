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334155"/>
                </a:solidFill>
                <a:latin typeface="+mn-lt"/>
              </a:defRPr>
            </a:pPr>
            <a:r>
              <a:rPr sz="1500" b="0" i="0" u="none" strike="noStrike">
                <a:solidFill>
                  <a:srgbClr val="334155"/>
                </a:solidFill>
                <a:latin typeface="+mn-lt"/>
              </a:rPr>
              <a:t>Số test case theo nhóm chức năng (tất cả đều đạt)</a:t>
            </a:r>
          </a:p>
        </c:rich>
      </c:tx>
      <c:layout/>
      <c:overlay val="0"/>
    </c:title>
    <c:autoTitleDeleted val="0"/>
    <c:plotArea>
      <c:layout/>
      <c:barChart>
        <c:barDir val="bar"/>
        <c:grouping val="clustered"/>
        <c:varyColors val="0"/>
        <c:ser>
          <c:idx val="0"/>
          <c:order val="0"/>
          <c:tx>
            <c:strRef>
              <c:f>Sheet1!$B$1</c:f>
              <c:strCache>
                <c:ptCount val="1"/>
                <c:pt idx="0">
                  <c:v>Số test case</c:v>
                </c:pt>
              </c:strCache>
            </c:strRef>
          </c:tx>
          <c:spPr>
            <a:solidFill>
              <a:srgbClr val="0B3D91"/>
            </a:solidFill>
            <a:effectLst/>
          </c:spPr>
          <c:invertIfNegative val="0"/>
          <c:dLbls>
            <c:numFmt formatCode="#,##0" sourceLinked="0"/>
            <c:txPr>
              <a:bodyPr/>
              <a:lstStyle/>
              <a:p>
                <a:pPr>
                  <a:defRPr b="0" i="0" strike="noStrike" sz="14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Tài khoản, phân quyền</c:v>
                  </c:pt>
                  <c:pt idx="1">
                    <c:v>Chức năng khách</c:v>
                  </c:pt>
                  <c:pt idx="2">
                    <c:v>Chức năng sinh viên</c:v>
                  </c:pt>
                  <c:pt idx="3">
                    <c:v>Chức năng quản trị</c:v>
                  </c:pt>
                </c:lvl>
              </c:multiLvlStrCache>
            </c:multiLvlStrRef>
          </c:cat>
          <c:val>
            <c:numRef>
              <c:f>Sheet1!$B$2:$B$5</c:f>
              <c:numCache>
                <c:formatCode>General</c:formatCode>
                <c:ptCount val="4"/>
                <c:pt idx="0">
                  <c:v>14</c:v>
                </c:pt>
                <c:pt idx="1">
                  <c:v>10</c:v>
                </c:pt>
                <c:pt idx="2">
                  <c:v>14</c:v>
                </c:pt>
                <c:pt idx="3">
                  <c:v>6</c:v>
                </c:pt>
              </c:numCache>
            </c:numRef>
          </c:val>
        </c:ser>
        <c:dLbls>
          <c:numFmt formatCode="#,##0" sourceLinked="0"/>
          <c:txPr>
            <a:bodyPr/>
            <a:lstStyle/>
            <a:p>
              <a:pPr>
                <a:defRPr b="0" i="0" strike="noStrike" sz="14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chào thầy cô. Em là Lê Văn Bình Phương, MSSV 170125077, lớp DK25TTG2. Đề tài của em là xây dựng website giới thiệu các sản phẩm khởi nghiệp của sinh viên Trường Đại học Trà Vinh, dưới sự hướng dẫn của TS. Nguyễn Nhứt 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năm phần: giới thiệu đề tài, phân tích và thiết kế hệ thống, cài đặt và giao diện, kiểm thử và đánh giá, cuối cùng là kết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ba lý do: phong trào khởi nghiệp sinh viên đang được khuyến khích theo Đề án 1665; sản phẩm của sinh viên hiện giới thiệu rời rạc nên doanh nghiệp khó tìm; và bản thân em đã phát triển sản phẩm Zalord nên thấy rõ nhu cầu có một kênh chính thống có kiểm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là xây dựng một website chung, nơi nhiều sinh viên đăng dự án và ban quản trị kiểm duyệt trước khi công khai, đồng thời kết nối với doanh nghiệp. Hệ thống có 3 tác nhân: khách, sinh viên, quản trị viên, với 24 chức năng, cơ sở dữ liệu 14 bảng và 13 dự án mẫu.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được xây dựng trên ASP.NET Core MVC .NET 8, truy cập dữ liệu bằng Entity Framework Core với SQL Server. Xác thực bằng Cookie Authentication, mật khẩu băm PBKDF2. Giao diện dùng Bootstrap 5 và jQuery; Chart.js cho thống kê, Quill để soạn thảo và HtmlSanitizer để chống XSS.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Yêu cầu từ trình duyệt đi qua chuỗi middleware gồm định tuyến, xác thực, phân quyền, rồi tới controller. Controller dùng các service được cấp qua Dependency Injection, truy cập dữ liệu qua AppDbContext và trả ViewModel cho View Razor sinh HTML. Khu quản trị được tách thành Area Admin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ba tác nhân. Khách xem, tìm kiếm dự án và gửi liên hệ hợp tác. Sinh viên kế thừa toàn bộ chức năng của khách, thêm đăng và quản lý dự án, bình luận, đánh giá. Quản trị viên duyệt dự án, quản lý danh mục, tài khoản và xem thống kê. Tổng cộng 24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sở dữ liệu gồm 14 bảng, tạo theo hướng Code First. Bảng Project là trung tâm, liên kết với lĩnh vực, khoa, chủ dự án và các bảng con như hình ảnh, tính năng, phiên bản, bình luận. Các ràng buộc như khóa ghép của bảng Vote, kiểm tra số sao và hành vi khi xóa được khai báo rõ ràng. Collation Vietnamese_CI_AI giúp tìm kiếm không phân biệt dấu.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nghiệp vụ chính của hệ thống. Dự án đi từ Nháp, sang Chờ duyệt khi đủ ảnh bìa và ít nhất một tính năng, rồi Đã duyệt mới hiển thị công khai. Nếu bị từ chối, quản trị viên bắt buộc ghi lý do để sinh viên sửa và gửi lại. Dự án đã duyệt có thể bị ẩn và hiện lại. Các quy tắc này được tập trung trong lớp ProjectRules.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chủ hiển thị số liệu, dự án nổi bật và các lĩnh vực. Trang danh sách có bộ lọc theo lĩnh vực, khoa, giai đoạn và tìm kiếm không dấu. Trang chi tiết dự án gồm giới thiệu, tính năng, hình ảnh, phiên bản, đội ngũ và nút liên hệ hợp tác. Giao diện co giãn tốt trên điện thoại.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Sinh viên đăng dự án với trình soạn thảo, tải logo, ảnh bìa, sau đó bổ sung tính năng, hình ảnh, phiên bản, thành viên rồi gửi duyệt. Trên dự án đã công khai, sinh viên bình luận, chấm sao, bình chọn; chủ dự án được trả lời bình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Khu quản trị có dashboard thống kê với các biểu đồ theo tháng, trạng thái, lĩnh vực và khoa. Trang duyệt dự án lọc theo trạng thái, đưa dự án chờ duyệt lên đầu; khi từ chối phải nhập lý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bảo mật, mật khẩu được băm PBKDF2 có salt. Phân quyền theo vai trò bằng Cookie Authentication. Mọi truy vấn qua EF Core nên chống được SQL Injection. Nội dung HTML được lọc chống XSS, mọi form POST có token chống CSRF, và tệp tải lên được kiểm tra chữ ký để chặn tệp giả mạo. Tài khoản bị khóa sẽ bị đăng xuất ngay ở yêu cầu kế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kiểm thử theo phương pháp hộp đen với 44 test case chia bốn nhóm, tất cả đều đạt. Ngoài kiểm thử thủ công, em viết kịch bản Python tự động gửi yêu cầu như trình duyệt thật, gồm cả cookie đăng nhập và token chống giả mạo; kịch bản chạy 62 lần kiểm tra và đều đạt, giúp kiểm tra lại nhanh sau mỗi lần sửa mã.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với mục tiêu ban đầu, hệ thống đạt bảy trên tám mục tiêu. Mục tiêu triển khai lên Internet chưa đạt: em đã đóng gói publish thử thành công nhưng chưa đưa lên máy chủ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Hạn chế hiện tại là chưa có chức năng gửi email, chưa đăng nhập bằng tài khoản của Trường, chưa triển khai thật và dữ liệu còn là dữ liệu mẫu. Hướng phát triển là tích hợp email, đăng nhập một lần, triển khai lên máy chủ, nâng cấp .NET 10 và xây dựng Web API cho ứng dụng di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đồ án đã xây dựng được website hoàn chỉnh với quy trình kiểm duyệt rõ ràng, áp dụng toàn diện các kỹ thuật ASP.NET Core và đạt toàn bộ test case. Mã nguồn được công khai trên GitHub. Em xin cảm ơn quý thầy cô đã lắng nghe và rất mong nhận được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EU_DE">
    <p:bg>
      <p:bgPr>
        <a:solidFill>
          <a:srgbClr val="072A6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766560" cy="219456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OI_DUNG">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rgbClr val="0B3D9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64748B"/>
                </a:solidFill>
              </a:rPr>
              <a:t>Website giới thiệu sản phẩm khởi nghiệp SV TVU  ·  Chuyên đề ASP.NET</a:t>
            </a:r>
            <a:endParaRPr lang="en-US" sz="10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777240"/>
            <a:ext cx="6858000" cy="365760"/>
          </a:xfrm>
          <a:prstGeom prst="rect">
            <a:avLst/>
          </a:prstGeom>
          <a:noFill/>
          <a:ln/>
        </p:spPr>
        <p:txBody>
          <a:bodyPr wrap="square" lIns="0" tIns="0" rIns="0" bIns="0" rtlCol="0" anchor="ctr"/>
          <a:lstStyle/>
          <a:p>
            <a:pPr indent="0" marL="0">
              <a:buNone/>
            </a:pPr>
            <a:r>
              <a:rPr lang="en-US" sz="1400" b="1" spc="100" kern="0" dirty="0">
                <a:solidFill>
                  <a:srgbClr val="F59E0B"/>
                </a:solidFill>
              </a:rPr>
              <a:t>CHUYÊN ĐỀ ASP.NET  ·  HỌC KỲ 6, NĂM HỌC 2026 – 2027</a:t>
            </a:r>
            <a:endParaRPr lang="en-US" sz="1400" dirty="0"/>
          </a:p>
        </p:txBody>
      </p:sp>
      <p:sp>
        <p:nvSpPr>
          <p:cNvPr id="3" name="Text 0"/>
          <p:cNvSpPr/>
          <p:nvPr>
            <p:ph idx="100" type="title" hasCustomPrompt="1"/>
          </p:nvPr>
        </p:nvSpPr>
        <p:spPr>
          <a:xfrm>
            <a:off x="640080" y="1417320"/>
            <a:ext cx="6766560" cy="219456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Xây dựng website giới thiệu các sản phẩm khởi nghiệp của Sinh viên Trường Đại học Trà Vinh</a:t>
            </a:r>
            <a:endParaRPr lang="en-US" sz="3400" dirty="0"/>
          </a:p>
        </p:txBody>
      </p:sp>
      <p:sp>
        <p:nvSpPr>
          <p:cNvPr id="4" name="Text 2"/>
          <p:cNvSpPr txBox="1"/>
          <p:nvPr/>
        </p:nvSpPr>
        <p:spPr>
          <a:xfrm>
            <a:off x="640080" y="4160520"/>
            <a:ext cx="6583680" cy="1371600"/>
          </a:xfrm>
          <a:prstGeom prst="rect">
            <a:avLst/>
          </a:prstGeom>
          <a:noFill/>
          <a:ln/>
        </p:spPr>
        <p:txBody>
          <a:bodyPr wrap="square" lIns="0" tIns="0" rIns="0" bIns="0" rtlCol="0" anchor="ctr"/>
          <a:lstStyle/>
          <a:p>
            <a:pPr indent="0" marL="0">
              <a:spcAft>
                <a:spcPts val="600"/>
              </a:spcAft>
              <a:buNone/>
            </a:pPr>
            <a:r>
              <a:rPr lang="en-US" sz="1800" dirty="0">
                <a:solidFill>
                  <a:srgbClr val="C7D2FE"/>
                </a:solidFill>
              </a:rPr>
              <a:t>Sinh viên thực hiện: </a:t>
            </a:r>
            <a:pPr indent="0" marL="0">
              <a:spcAft>
                <a:spcPts val="600"/>
              </a:spcAft>
              <a:buNone/>
            </a:pPr>
            <a:r>
              <a:rPr lang="en-US" sz="1800" b="1" dirty="0">
                <a:solidFill>
                  <a:srgbClr val="FFFFFF"/>
                </a:solidFill>
              </a:rPr>
              <a:t>Lê Văn Bình Phương</a:t>
            </a:r>
            <a:endParaRPr lang="en-US" sz="1800" dirty="0"/>
          </a:p>
          <a:p>
            <a:pPr indent="0" marL="0">
              <a:spcAft>
                <a:spcPts val="600"/>
              </a:spcAft>
              <a:buNone/>
            </a:pPr>
            <a:r>
              <a:rPr lang="en-US" sz="1800" dirty="0">
                <a:solidFill>
                  <a:srgbClr val="FFFFFF"/>
                </a:solidFill>
              </a:rPr>
              <a:t>MSSV: 170125077  ·  Lớp: DK25TTG2</a:t>
            </a:r>
            <a:endParaRPr lang="en-US" sz="1800" dirty="0"/>
          </a:p>
          <a:p>
            <a:pPr indent="0" marL="0">
              <a:spcAft>
                <a:spcPts val="600"/>
              </a:spcAft>
              <a:buNone/>
            </a:pPr>
            <a:r>
              <a:rPr lang="en-US" sz="1800" dirty="0">
                <a:solidFill>
                  <a:srgbClr val="C7D2FE"/>
                </a:solidFill>
              </a:rPr>
              <a:t>Giáo viên hướng dẫn: </a:t>
            </a:r>
            <a:pPr indent="0" marL="0">
              <a:spcAft>
                <a:spcPts val="600"/>
              </a:spcAft>
              <a:buNone/>
            </a:pPr>
            <a:r>
              <a:rPr lang="en-US" sz="1800" b="1" dirty="0">
                <a:solidFill>
                  <a:srgbClr val="FFFFFF"/>
                </a:solidFill>
              </a:rPr>
              <a:t>TS. Nguyễn Nhứt Lam</a:t>
            </a:r>
            <a:endParaRPr lang="en-US" sz="1800" dirty="0"/>
          </a:p>
        </p:txBody>
      </p:sp>
      <p:sp>
        <p:nvSpPr>
          <p:cNvPr id="5" name="Text 3"/>
          <p:cNvSpPr txBox="1"/>
          <p:nvPr/>
        </p:nvSpPr>
        <p:spPr>
          <a:xfrm>
            <a:off x="640080" y="6035040"/>
            <a:ext cx="5486400" cy="320040"/>
          </a:xfrm>
          <a:prstGeom prst="rect">
            <a:avLst/>
          </a:prstGeom>
          <a:noFill/>
          <a:ln/>
        </p:spPr>
        <p:txBody>
          <a:bodyPr wrap="square" lIns="0" tIns="0" rIns="0" bIns="0" rtlCol="0" anchor="ctr"/>
          <a:lstStyle/>
          <a:p>
            <a:pPr indent="0" marL="0">
              <a:buNone/>
            </a:pPr>
            <a:r>
              <a:rPr lang="en-US" sz="1300" dirty="0">
                <a:solidFill>
                  <a:srgbClr val="AFC3E8"/>
                </a:solidFill>
              </a:rPr>
              <a:t>Trường Đại học Trà Vinh</a:t>
            </a:r>
            <a:endParaRPr lang="en-US" sz="1300" dirty="0"/>
          </a:p>
        </p:txBody>
      </p:sp>
      <p:pic>
        <p:nvPicPr>
          <p:cNvPr id="6" name="Image 0" descr="D:/Desktop/TVU - BT/DA THI/ASP.NET/BAO CAO/PHẠM TUẤN ANH - MSSV 170122372 - ASP.NET/PkuongProject/docs/screenshots/k01_trang_chu.png">    </p:cNvPr>
          <p:cNvPicPr>
            <a:picLocks noChangeAspect="1"/>
          </p:cNvPicPr>
          <p:nvPr/>
        </p:nvPicPr>
        <p:blipFill>
          <a:blip r:embed="rId1"/>
          <a:stretch>
            <a:fillRect/>
          </a:stretch>
        </p:blipFill>
        <p:spPr>
          <a:xfrm>
            <a:off x="7726680" y="1219981"/>
            <a:ext cx="4023360" cy="4418038"/>
          </a:xfrm>
          <a:prstGeom prst="rect">
            <a:avLst/>
          </a:prstGeom>
          <a:effectLst>
            <a:outerShdw sx="100000" sy="100000" kx="0" ky="0" algn="bl" rotWithShape="0" blurRad="101600" dist="38100" dir="54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Nội dung trình bày</a:t>
            </a:r>
            <a:endParaRPr lang="en-US" sz="3200" dirty="0"/>
          </a:p>
        </p:txBody>
      </p:sp>
      <p:sp>
        <p:nvSpPr>
          <p:cNvPr id="3" name="Text 1"/>
          <p:cNvSpPr txBox="1"/>
          <p:nvPr/>
        </p:nvSpPr>
        <p:spPr>
          <a:xfrm>
            <a:off x="822960" y="1417320"/>
            <a:ext cx="822960" cy="685800"/>
          </a:xfrm>
          <a:prstGeom prst="rect">
            <a:avLst/>
          </a:prstGeom>
          <a:noFill/>
          <a:ln/>
        </p:spPr>
        <p:txBody>
          <a:bodyPr wrap="square" lIns="0" tIns="0" rIns="0" bIns="0" rtlCol="0" anchor="ctr"/>
          <a:lstStyle/>
          <a:p>
            <a:pPr indent="0" marL="0">
              <a:buNone/>
            </a:pPr>
            <a:r>
              <a:rPr lang="en-US" sz="3000" b="1" dirty="0">
                <a:solidFill>
                  <a:srgbClr val="F59E0B"/>
                </a:solidFill>
                <a:latin typeface="Cambria" pitchFamily="34" charset="0"/>
                <a:ea typeface="Cambria" pitchFamily="34" charset="-122"/>
                <a:cs typeface="Cambria" pitchFamily="34" charset="-120"/>
              </a:rPr>
              <a:t>01</a:t>
            </a:r>
            <a:endParaRPr lang="en-US" sz="3000" dirty="0"/>
          </a:p>
        </p:txBody>
      </p:sp>
      <p:sp>
        <p:nvSpPr>
          <p:cNvPr id="4" name="Shape 2"/>
          <p:cNvSpPr/>
          <p:nvPr/>
        </p:nvSpPr>
        <p:spPr>
          <a:xfrm>
            <a:off x="1691640" y="1472184"/>
            <a:ext cx="566928" cy="566928"/>
          </a:xfrm>
          <a:prstGeom prst="ellipse">
            <a:avLst/>
          </a:prstGeom>
          <a:solidFill>
            <a:srgbClr val="0B3D91"/>
          </a:solidFill>
          <a:ln w="12700">
            <a:solidFill>
              <a:srgbClr val="0B3D91"/>
            </a:solidFill>
            <a:prstDash val="solid"/>
          </a:ln>
        </p:spPr>
      </p:sp>
      <p:pic>
        <p:nvPicPr>
          <p:cNvPr id="5" name="Image 0" descr="preencoded.png">    </p:cNvPr>
          <p:cNvPicPr>
            <a:picLocks noChangeAspect="1"/>
          </p:cNvPicPr>
          <p:nvPr/>
        </p:nvPicPr>
        <p:blipFill>
          <a:blip r:embed="rId1"/>
          <a:stretch>
            <a:fillRect/>
          </a:stretch>
        </p:blipFill>
        <p:spPr>
          <a:xfrm>
            <a:off x="1827703" y="1608247"/>
            <a:ext cx="294803" cy="294803"/>
          </a:xfrm>
          <a:prstGeom prst="rect">
            <a:avLst/>
          </a:prstGeom>
        </p:spPr>
      </p:pic>
      <p:sp>
        <p:nvSpPr>
          <p:cNvPr id="6" name="Text 3"/>
          <p:cNvSpPr txBox="1"/>
          <p:nvPr/>
        </p:nvSpPr>
        <p:spPr>
          <a:xfrm>
            <a:off x="2514600" y="1417320"/>
            <a:ext cx="5120640" cy="713232"/>
          </a:xfrm>
          <a:prstGeom prst="rect">
            <a:avLst/>
          </a:prstGeom>
          <a:noFill/>
          <a:ln/>
        </p:spPr>
        <p:txBody>
          <a:bodyPr wrap="square" lIns="0" tIns="0" rIns="0" bIns="0" rtlCol="0" anchor="ctr"/>
          <a:lstStyle/>
          <a:p>
            <a:pPr indent="0" marL="0">
              <a:buNone/>
            </a:pPr>
            <a:r>
              <a:rPr lang="en-US" sz="2000" b="1" dirty="0">
                <a:solidFill>
                  <a:srgbClr val="0F172A"/>
                </a:solidFill>
              </a:rPr>
              <a:t>Giới thiệu đề tài</a:t>
            </a:r>
            <a:endParaRPr lang="en-US" sz="2000" dirty="0"/>
          </a:p>
          <a:p>
            <a:pPr indent="0" marL="0">
              <a:buNone/>
            </a:pPr>
            <a:r>
              <a:rPr lang="en-US" sz="1400" dirty="0">
                <a:solidFill>
                  <a:srgbClr val="64748B"/>
                </a:solidFill>
              </a:rPr>
              <a:t>Lý do, mục tiêu, phạm vi, công nghệ</a:t>
            </a:r>
            <a:endParaRPr lang="en-US" sz="2000" dirty="0"/>
          </a:p>
        </p:txBody>
      </p:sp>
      <p:sp>
        <p:nvSpPr>
          <p:cNvPr id="7" name="Text 4"/>
          <p:cNvSpPr txBox="1"/>
          <p:nvPr/>
        </p:nvSpPr>
        <p:spPr>
          <a:xfrm>
            <a:off x="822960" y="2377440"/>
            <a:ext cx="822960" cy="685800"/>
          </a:xfrm>
          <a:prstGeom prst="rect">
            <a:avLst/>
          </a:prstGeom>
          <a:noFill/>
          <a:ln/>
        </p:spPr>
        <p:txBody>
          <a:bodyPr wrap="square" lIns="0" tIns="0" rIns="0" bIns="0" rtlCol="0" anchor="ctr"/>
          <a:lstStyle/>
          <a:p>
            <a:pPr indent="0" marL="0">
              <a:buNone/>
            </a:pPr>
            <a:r>
              <a:rPr lang="en-US" sz="3000" b="1" dirty="0">
                <a:solidFill>
                  <a:srgbClr val="F59E0B"/>
                </a:solidFill>
                <a:latin typeface="Cambria" pitchFamily="34" charset="0"/>
                <a:ea typeface="Cambria" pitchFamily="34" charset="-122"/>
                <a:cs typeface="Cambria" pitchFamily="34" charset="-120"/>
              </a:rPr>
              <a:t>02</a:t>
            </a:r>
            <a:endParaRPr lang="en-US" sz="3000" dirty="0"/>
          </a:p>
        </p:txBody>
      </p:sp>
      <p:sp>
        <p:nvSpPr>
          <p:cNvPr id="8" name="Shape 5"/>
          <p:cNvSpPr/>
          <p:nvPr/>
        </p:nvSpPr>
        <p:spPr>
          <a:xfrm>
            <a:off x="1691640" y="2432304"/>
            <a:ext cx="566928" cy="566928"/>
          </a:xfrm>
          <a:prstGeom prst="ellipse">
            <a:avLst/>
          </a:prstGeom>
          <a:solidFill>
            <a:srgbClr val="0B3D91"/>
          </a:solidFill>
          <a:ln w="12700">
            <a:solidFill>
              <a:srgbClr val="0B3D91"/>
            </a:solidFill>
            <a:prstDash val="solid"/>
          </a:ln>
        </p:spPr>
      </p:sp>
      <p:pic>
        <p:nvPicPr>
          <p:cNvPr id="9" name="Image 1" descr="preencoded.png">    </p:cNvPr>
          <p:cNvPicPr>
            <a:picLocks noChangeAspect="1"/>
          </p:cNvPicPr>
          <p:nvPr/>
        </p:nvPicPr>
        <p:blipFill>
          <a:blip r:embed="rId2"/>
          <a:stretch>
            <a:fillRect/>
          </a:stretch>
        </p:blipFill>
        <p:spPr>
          <a:xfrm>
            <a:off x="1827703" y="2568367"/>
            <a:ext cx="294803" cy="294803"/>
          </a:xfrm>
          <a:prstGeom prst="rect">
            <a:avLst/>
          </a:prstGeom>
        </p:spPr>
      </p:pic>
      <p:sp>
        <p:nvSpPr>
          <p:cNvPr id="10" name="Text 6"/>
          <p:cNvSpPr txBox="1"/>
          <p:nvPr/>
        </p:nvSpPr>
        <p:spPr>
          <a:xfrm>
            <a:off x="2514600" y="2377440"/>
            <a:ext cx="5120640" cy="713232"/>
          </a:xfrm>
          <a:prstGeom prst="rect">
            <a:avLst/>
          </a:prstGeom>
          <a:noFill/>
          <a:ln/>
        </p:spPr>
        <p:txBody>
          <a:bodyPr wrap="square" lIns="0" tIns="0" rIns="0" bIns="0" rtlCol="0" anchor="ctr"/>
          <a:lstStyle/>
          <a:p>
            <a:pPr indent="0" marL="0">
              <a:buNone/>
            </a:pPr>
            <a:r>
              <a:rPr lang="en-US" sz="2000" b="1" dirty="0">
                <a:solidFill>
                  <a:srgbClr val="0F172A"/>
                </a:solidFill>
              </a:rPr>
              <a:t>Phân tích &amp; thiết kế</a:t>
            </a:r>
            <a:endParaRPr lang="en-US" sz="2000" dirty="0"/>
          </a:p>
          <a:p>
            <a:pPr indent="0" marL="0">
              <a:buNone/>
            </a:pPr>
            <a:r>
              <a:rPr lang="en-US" sz="1400" dirty="0">
                <a:solidFill>
                  <a:srgbClr val="64748B"/>
                </a:solidFill>
              </a:rPr>
              <a:t>Use case, cơ sở dữ liệu, kiến trúc, quy trình</a:t>
            </a:r>
            <a:endParaRPr lang="en-US" sz="2000" dirty="0"/>
          </a:p>
        </p:txBody>
      </p:sp>
      <p:sp>
        <p:nvSpPr>
          <p:cNvPr id="11" name="Text 7"/>
          <p:cNvSpPr txBox="1"/>
          <p:nvPr/>
        </p:nvSpPr>
        <p:spPr>
          <a:xfrm>
            <a:off x="822960" y="3337560"/>
            <a:ext cx="822960" cy="685800"/>
          </a:xfrm>
          <a:prstGeom prst="rect">
            <a:avLst/>
          </a:prstGeom>
          <a:noFill/>
          <a:ln/>
        </p:spPr>
        <p:txBody>
          <a:bodyPr wrap="square" lIns="0" tIns="0" rIns="0" bIns="0" rtlCol="0" anchor="ctr"/>
          <a:lstStyle/>
          <a:p>
            <a:pPr indent="0" marL="0">
              <a:buNone/>
            </a:pPr>
            <a:r>
              <a:rPr lang="en-US" sz="3000" b="1" dirty="0">
                <a:solidFill>
                  <a:srgbClr val="F59E0B"/>
                </a:solidFill>
                <a:latin typeface="Cambria" pitchFamily="34" charset="0"/>
                <a:ea typeface="Cambria" pitchFamily="34" charset="-122"/>
                <a:cs typeface="Cambria" pitchFamily="34" charset="-120"/>
              </a:rPr>
              <a:t>03</a:t>
            </a:r>
            <a:endParaRPr lang="en-US" sz="3000" dirty="0"/>
          </a:p>
        </p:txBody>
      </p:sp>
      <p:sp>
        <p:nvSpPr>
          <p:cNvPr id="12" name="Shape 8"/>
          <p:cNvSpPr/>
          <p:nvPr/>
        </p:nvSpPr>
        <p:spPr>
          <a:xfrm>
            <a:off x="1691640" y="3392424"/>
            <a:ext cx="566928" cy="566928"/>
          </a:xfrm>
          <a:prstGeom prst="ellipse">
            <a:avLst/>
          </a:prstGeom>
          <a:solidFill>
            <a:srgbClr val="0B3D91"/>
          </a:solidFill>
          <a:ln w="12700">
            <a:solidFill>
              <a:srgbClr val="0B3D91"/>
            </a:solidFill>
            <a:prstDash val="solid"/>
          </a:ln>
        </p:spPr>
      </p:sp>
      <p:pic>
        <p:nvPicPr>
          <p:cNvPr id="13" name="Image 2" descr="preencoded.png">    </p:cNvPr>
          <p:cNvPicPr>
            <a:picLocks noChangeAspect="1"/>
          </p:cNvPicPr>
          <p:nvPr/>
        </p:nvPicPr>
        <p:blipFill>
          <a:blip r:embed="rId3"/>
          <a:stretch>
            <a:fillRect/>
          </a:stretch>
        </p:blipFill>
        <p:spPr>
          <a:xfrm>
            <a:off x="1827703" y="3528487"/>
            <a:ext cx="294803" cy="294803"/>
          </a:xfrm>
          <a:prstGeom prst="rect">
            <a:avLst/>
          </a:prstGeom>
        </p:spPr>
      </p:pic>
      <p:sp>
        <p:nvSpPr>
          <p:cNvPr id="14" name="Text 9"/>
          <p:cNvSpPr txBox="1"/>
          <p:nvPr/>
        </p:nvSpPr>
        <p:spPr>
          <a:xfrm>
            <a:off x="2514600" y="3337560"/>
            <a:ext cx="5120640" cy="713232"/>
          </a:xfrm>
          <a:prstGeom prst="rect">
            <a:avLst/>
          </a:prstGeom>
          <a:noFill/>
          <a:ln/>
        </p:spPr>
        <p:txBody>
          <a:bodyPr wrap="square" lIns="0" tIns="0" rIns="0" bIns="0" rtlCol="0" anchor="ctr"/>
          <a:lstStyle/>
          <a:p>
            <a:pPr indent="0" marL="0">
              <a:buNone/>
            </a:pPr>
            <a:r>
              <a:rPr lang="en-US" sz="2000" b="1" dirty="0">
                <a:solidFill>
                  <a:srgbClr val="0F172A"/>
                </a:solidFill>
              </a:rPr>
              <a:t>Cài đặt &amp; giao diện</a:t>
            </a:r>
            <a:endParaRPr lang="en-US" sz="2000" dirty="0"/>
          </a:p>
          <a:p>
            <a:pPr indent="0" marL="0">
              <a:buNone/>
            </a:pPr>
            <a:r>
              <a:rPr lang="en-US" sz="1400" dirty="0">
                <a:solidFill>
                  <a:srgbClr val="64748B"/>
                </a:solidFill>
              </a:rPr>
              <a:t>Các module chính, bảo mật, giao diện thực tế</a:t>
            </a:r>
            <a:endParaRPr lang="en-US" sz="2000" dirty="0"/>
          </a:p>
        </p:txBody>
      </p:sp>
      <p:sp>
        <p:nvSpPr>
          <p:cNvPr id="15" name="Text 10"/>
          <p:cNvSpPr txBox="1"/>
          <p:nvPr/>
        </p:nvSpPr>
        <p:spPr>
          <a:xfrm>
            <a:off x="822960" y="4297680"/>
            <a:ext cx="822960" cy="685800"/>
          </a:xfrm>
          <a:prstGeom prst="rect">
            <a:avLst/>
          </a:prstGeom>
          <a:noFill/>
          <a:ln/>
        </p:spPr>
        <p:txBody>
          <a:bodyPr wrap="square" lIns="0" tIns="0" rIns="0" bIns="0" rtlCol="0" anchor="ctr"/>
          <a:lstStyle/>
          <a:p>
            <a:pPr indent="0" marL="0">
              <a:buNone/>
            </a:pPr>
            <a:r>
              <a:rPr lang="en-US" sz="3000" b="1" dirty="0">
                <a:solidFill>
                  <a:srgbClr val="F59E0B"/>
                </a:solidFill>
                <a:latin typeface="Cambria" pitchFamily="34" charset="0"/>
                <a:ea typeface="Cambria" pitchFamily="34" charset="-122"/>
                <a:cs typeface="Cambria" pitchFamily="34" charset="-120"/>
              </a:rPr>
              <a:t>04</a:t>
            </a:r>
            <a:endParaRPr lang="en-US" sz="3000" dirty="0"/>
          </a:p>
        </p:txBody>
      </p:sp>
      <p:sp>
        <p:nvSpPr>
          <p:cNvPr id="16" name="Shape 11"/>
          <p:cNvSpPr/>
          <p:nvPr/>
        </p:nvSpPr>
        <p:spPr>
          <a:xfrm>
            <a:off x="1691640" y="4352544"/>
            <a:ext cx="566928" cy="566928"/>
          </a:xfrm>
          <a:prstGeom prst="ellipse">
            <a:avLst/>
          </a:prstGeom>
          <a:solidFill>
            <a:srgbClr val="0B3D91"/>
          </a:solidFill>
          <a:ln w="12700">
            <a:solidFill>
              <a:srgbClr val="0B3D91"/>
            </a:solidFill>
            <a:prstDash val="solid"/>
          </a:ln>
        </p:spPr>
      </p:sp>
      <p:pic>
        <p:nvPicPr>
          <p:cNvPr id="17" name="Image 3" descr="preencoded.png">    </p:cNvPr>
          <p:cNvPicPr>
            <a:picLocks noChangeAspect="1"/>
          </p:cNvPicPr>
          <p:nvPr/>
        </p:nvPicPr>
        <p:blipFill>
          <a:blip r:embed="rId4"/>
          <a:stretch>
            <a:fillRect/>
          </a:stretch>
        </p:blipFill>
        <p:spPr>
          <a:xfrm>
            <a:off x="1827703" y="4488607"/>
            <a:ext cx="294803" cy="294803"/>
          </a:xfrm>
          <a:prstGeom prst="rect">
            <a:avLst/>
          </a:prstGeom>
        </p:spPr>
      </p:pic>
      <p:sp>
        <p:nvSpPr>
          <p:cNvPr id="18" name="Text 12"/>
          <p:cNvSpPr txBox="1"/>
          <p:nvPr/>
        </p:nvSpPr>
        <p:spPr>
          <a:xfrm>
            <a:off x="2514600" y="4297680"/>
            <a:ext cx="5120640" cy="713232"/>
          </a:xfrm>
          <a:prstGeom prst="rect">
            <a:avLst/>
          </a:prstGeom>
          <a:noFill/>
          <a:ln/>
        </p:spPr>
        <p:txBody>
          <a:bodyPr wrap="square" lIns="0" tIns="0" rIns="0" bIns="0" rtlCol="0" anchor="ctr"/>
          <a:lstStyle/>
          <a:p>
            <a:pPr indent="0" marL="0">
              <a:buNone/>
            </a:pPr>
            <a:r>
              <a:rPr lang="en-US" sz="2000" b="1" dirty="0">
                <a:solidFill>
                  <a:srgbClr val="0F172A"/>
                </a:solidFill>
              </a:rPr>
              <a:t>Kiểm thử &amp; đánh giá</a:t>
            </a:r>
            <a:endParaRPr lang="en-US" sz="2000" dirty="0"/>
          </a:p>
          <a:p>
            <a:pPr indent="0" marL="0">
              <a:buNone/>
            </a:pPr>
            <a:r>
              <a:rPr lang="en-US" sz="1400" dirty="0">
                <a:solidFill>
                  <a:srgbClr val="64748B"/>
                </a:solidFill>
              </a:rPr>
              <a:t>Kết quả 44 test case, so sánh với mục tiêu</a:t>
            </a:r>
            <a:endParaRPr lang="en-US" sz="2000" dirty="0"/>
          </a:p>
        </p:txBody>
      </p:sp>
      <p:sp>
        <p:nvSpPr>
          <p:cNvPr id="19" name="Text 13"/>
          <p:cNvSpPr txBox="1"/>
          <p:nvPr/>
        </p:nvSpPr>
        <p:spPr>
          <a:xfrm>
            <a:off x="822960" y="5257800"/>
            <a:ext cx="822960" cy="685800"/>
          </a:xfrm>
          <a:prstGeom prst="rect">
            <a:avLst/>
          </a:prstGeom>
          <a:noFill/>
          <a:ln/>
        </p:spPr>
        <p:txBody>
          <a:bodyPr wrap="square" lIns="0" tIns="0" rIns="0" bIns="0" rtlCol="0" anchor="ctr"/>
          <a:lstStyle/>
          <a:p>
            <a:pPr indent="0" marL="0">
              <a:buNone/>
            </a:pPr>
            <a:r>
              <a:rPr lang="en-US" sz="3000" b="1" dirty="0">
                <a:solidFill>
                  <a:srgbClr val="F59E0B"/>
                </a:solidFill>
                <a:latin typeface="Cambria" pitchFamily="34" charset="0"/>
                <a:ea typeface="Cambria" pitchFamily="34" charset="-122"/>
                <a:cs typeface="Cambria" pitchFamily="34" charset="-120"/>
              </a:rPr>
              <a:t>05</a:t>
            </a:r>
            <a:endParaRPr lang="en-US" sz="3000" dirty="0"/>
          </a:p>
        </p:txBody>
      </p:sp>
      <p:sp>
        <p:nvSpPr>
          <p:cNvPr id="20" name="Shape 14"/>
          <p:cNvSpPr/>
          <p:nvPr/>
        </p:nvSpPr>
        <p:spPr>
          <a:xfrm>
            <a:off x="1691640" y="5312664"/>
            <a:ext cx="566928" cy="566928"/>
          </a:xfrm>
          <a:prstGeom prst="ellipse">
            <a:avLst/>
          </a:prstGeom>
          <a:solidFill>
            <a:srgbClr val="0B3D91"/>
          </a:solidFill>
          <a:ln w="12700">
            <a:solidFill>
              <a:srgbClr val="0B3D91"/>
            </a:solidFill>
            <a:prstDash val="solid"/>
          </a:ln>
        </p:spPr>
      </p:sp>
      <p:pic>
        <p:nvPicPr>
          <p:cNvPr id="21" name="Image 4" descr="preencoded.png">    </p:cNvPr>
          <p:cNvPicPr>
            <a:picLocks noChangeAspect="1"/>
          </p:cNvPicPr>
          <p:nvPr/>
        </p:nvPicPr>
        <p:blipFill>
          <a:blip r:embed="rId5"/>
          <a:stretch>
            <a:fillRect/>
          </a:stretch>
        </p:blipFill>
        <p:spPr>
          <a:xfrm>
            <a:off x="1827703" y="5448727"/>
            <a:ext cx="294803" cy="294803"/>
          </a:xfrm>
          <a:prstGeom prst="rect">
            <a:avLst/>
          </a:prstGeom>
        </p:spPr>
      </p:pic>
      <p:sp>
        <p:nvSpPr>
          <p:cNvPr id="22" name="Text 15"/>
          <p:cNvSpPr txBox="1"/>
          <p:nvPr/>
        </p:nvSpPr>
        <p:spPr>
          <a:xfrm>
            <a:off x="2514600" y="5257800"/>
            <a:ext cx="5120640" cy="713232"/>
          </a:xfrm>
          <a:prstGeom prst="rect">
            <a:avLst/>
          </a:prstGeom>
          <a:noFill/>
          <a:ln/>
        </p:spPr>
        <p:txBody>
          <a:bodyPr wrap="square" lIns="0" tIns="0" rIns="0" bIns="0" rtlCol="0" anchor="ctr"/>
          <a:lstStyle/>
          <a:p>
            <a:pPr indent="0" marL="0">
              <a:buNone/>
            </a:pPr>
            <a:r>
              <a:rPr lang="en-US" sz="2000" b="1" dirty="0">
                <a:solidFill>
                  <a:srgbClr val="0F172A"/>
                </a:solidFill>
              </a:rPr>
              <a:t>Kết luận</a:t>
            </a:r>
            <a:endParaRPr lang="en-US" sz="2000" dirty="0"/>
          </a:p>
          <a:p>
            <a:pPr indent="0" marL="0">
              <a:buNone/>
            </a:pPr>
            <a:r>
              <a:rPr lang="en-US" sz="1400" dirty="0">
                <a:solidFill>
                  <a:srgbClr val="64748B"/>
                </a:solidFill>
              </a:rPr>
              <a:t>Đóng góp, hạn chế, hướng phát triển</a:t>
            </a:r>
            <a:endParaRPr lang="en-US" sz="2000" dirty="0"/>
          </a:p>
        </p:txBody>
      </p:sp>
      <p:pic>
        <p:nvPicPr>
          <p:cNvPr id="23" name="Image 5" descr="D:/Desktop/TVU - BT/DA THI/ASP.NET/BAO CAO/PHẠM TUẤN ANH - MSSV 170122372 - ASP.NET/PkuongProject/docs/screenshots/k04_chi_tiet_du_an.png">    </p:cNvPr>
          <p:cNvPicPr>
            <a:picLocks noChangeAspect="1"/>
          </p:cNvPicPr>
          <p:nvPr/>
        </p:nvPicPr>
        <p:blipFill>
          <a:blip r:embed="rId6"/>
          <a:stretch>
            <a:fillRect/>
          </a:stretch>
        </p:blipFill>
        <p:spPr>
          <a:xfrm>
            <a:off x="7955280" y="1759249"/>
            <a:ext cx="3749040" cy="3979581"/>
          </a:xfrm>
          <a:prstGeom prst="rect">
            <a:avLst/>
          </a:prstGeom>
          <a:effectLst>
            <a:outerShdw sx="100000" sy="100000" kx="0" ky="0" algn="bl" rotWithShape="0" blurRad="101600" dist="38100" dir="5400000">
              <a:srgbClr val="000000">
                <a:alpha val="18000"/>
              </a:srgbClr>
            </a:outerShdw>
          </a:effectLst>
        </p:spPr>
      </p:pic>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Lý do chọn đề tài</a:t>
            </a:r>
            <a:endParaRPr lang="en-US" sz="3200" dirty="0"/>
          </a:p>
        </p:txBody>
      </p:sp>
      <p:sp>
        <p:nvSpPr>
          <p:cNvPr id="3" name="Shape 1"/>
          <p:cNvSpPr/>
          <p:nvPr/>
        </p:nvSpPr>
        <p:spPr>
          <a:xfrm>
            <a:off x="548640" y="1463040"/>
            <a:ext cx="3474720" cy="3566160"/>
          </a:xfrm>
          <a:prstGeom prst="roundRect">
            <a:avLst>
              <a:gd name="adj" fmla="val 3158"/>
            </a:avLst>
          </a:prstGeom>
          <a:solidFill>
            <a:srgbClr val="EEF3FB"/>
          </a:solidFill>
          <a:ln w="12700">
            <a:solidFill>
              <a:srgbClr val="EEF3FB"/>
            </a:solidFill>
            <a:prstDash val="solid"/>
          </a:ln>
        </p:spPr>
      </p:sp>
      <p:sp>
        <p:nvSpPr>
          <p:cNvPr id="4" name="Shape 2"/>
          <p:cNvSpPr/>
          <p:nvPr/>
        </p:nvSpPr>
        <p:spPr>
          <a:xfrm>
            <a:off x="868680" y="1783080"/>
            <a:ext cx="731520" cy="731520"/>
          </a:xfrm>
          <a:prstGeom prst="ellipse">
            <a:avLst/>
          </a:prstGeom>
          <a:solidFill>
            <a:srgbClr val="0B3D91"/>
          </a:solidFill>
          <a:ln w="12700">
            <a:solidFill>
              <a:srgbClr val="0B3D91"/>
            </a:solidFill>
            <a:prstDash val="solid"/>
          </a:ln>
        </p:spPr>
      </p:sp>
      <p:pic>
        <p:nvPicPr>
          <p:cNvPr id="5" name="Image 0" descr="preencoded.png">    </p:cNvPr>
          <p:cNvPicPr>
            <a:picLocks noChangeAspect="1"/>
          </p:cNvPicPr>
          <p:nvPr/>
        </p:nvPicPr>
        <p:blipFill>
          <a:blip r:embed="rId1"/>
          <a:stretch>
            <a:fillRect/>
          </a:stretch>
        </p:blipFill>
        <p:spPr>
          <a:xfrm>
            <a:off x="1044245" y="1958645"/>
            <a:ext cx="380390" cy="380390"/>
          </a:xfrm>
          <a:prstGeom prst="rect">
            <a:avLst/>
          </a:prstGeom>
        </p:spPr>
      </p:pic>
      <p:sp>
        <p:nvSpPr>
          <p:cNvPr id="6" name="Text 3"/>
          <p:cNvSpPr txBox="1"/>
          <p:nvPr/>
        </p:nvSpPr>
        <p:spPr>
          <a:xfrm>
            <a:off x="868680" y="2697480"/>
            <a:ext cx="2834640" cy="548640"/>
          </a:xfrm>
          <a:prstGeom prst="rect">
            <a:avLst/>
          </a:prstGeom>
          <a:noFill/>
          <a:ln/>
        </p:spPr>
        <p:txBody>
          <a:bodyPr wrap="square" lIns="0" tIns="0" rIns="0" bIns="0" rtlCol="0" anchor="ctr"/>
          <a:lstStyle/>
          <a:p>
            <a:pPr indent="0" marL="0">
              <a:buNone/>
            </a:pPr>
            <a:r>
              <a:rPr lang="en-US" sz="2000" b="1" dirty="0">
                <a:solidFill>
                  <a:srgbClr val="0B3D91"/>
                </a:solidFill>
              </a:rPr>
              <a:t>Phong trào khởi nghiệp</a:t>
            </a:r>
            <a:endParaRPr lang="en-US" sz="2000" dirty="0"/>
          </a:p>
        </p:txBody>
      </p:sp>
      <p:sp>
        <p:nvSpPr>
          <p:cNvPr id="7" name="Text 4"/>
          <p:cNvSpPr txBox="1"/>
          <p:nvPr/>
        </p:nvSpPr>
        <p:spPr>
          <a:xfrm>
            <a:off x="868680" y="3291840"/>
            <a:ext cx="2834640" cy="1554480"/>
          </a:xfrm>
          <a:prstGeom prst="rect">
            <a:avLst/>
          </a:prstGeom>
          <a:noFill/>
          <a:ln/>
        </p:spPr>
        <p:txBody>
          <a:bodyPr wrap="square" lIns="0" tIns="0" rIns="0" bIns="0" rtlCol="0" anchor="t"/>
          <a:lstStyle/>
          <a:p>
            <a:pPr indent="0" marL="0">
              <a:buNone/>
            </a:pPr>
            <a:r>
              <a:rPr lang="en-US" sz="1500" dirty="0">
                <a:solidFill>
                  <a:srgbClr val="334155"/>
                </a:solidFill>
              </a:rPr>
              <a:t>Đề án 1665 khuyến khích sinh viên khởi nghiệp; sinh viên TVU có nhiều ý tưởng, sản phẩm gắn với thế mạnh địa phương.</a:t>
            </a:r>
            <a:endParaRPr lang="en-US" sz="1500" dirty="0"/>
          </a:p>
        </p:txBody>
      </p:sp>
      <p:sp>
        <p:nvSpPr>
          <p:cNvPr id="8" name="Shape 5"/>
          <p:cNvSpPr/>
          <p:nvPr/>
        </p:nvSpPr>
        <p:spPr>
          <a:xfrm>
            <a:off x="4297680" y="1463040"/>
            <a:ext cx="3474720" cy="3566160"/>
          </a:xfrm>
          <a:prstGeom prst="roundRect">
            <a:avLst>
              <a:gd name="adj" fmla="val 3158"/>
            </a:avLst>
          </a:prstGeom>
          <a:solidFill>
            <a:srgbClr val="EEF3FB"/>
          </a:solidFill>
          <a:ln w="12700">
            <a:solidFill>
              <a:srgbClr val="EEF3FB"/>
            </a:solidFill>
            <a:prstDash val="solid"/>
          </a:ln>
        </p:spPr>
      </p:sp>
      <p:sp>
        <p:nvSpPr>
          <p:cNvPr id="9" name="Shape 6"/>
          <p:cNvSpPr/>
          <p:nvPr/>
        </p:nvSpPr>
        <p:spPr>
          <a:xfrm>
            <a:off x="4617720" y="1783080"/>
            <a:ext cx="731520" cy="731520"/>
          </a:xfrm>
          <a:prstGeom prst="ellipse">
            <a:avLst/>
          </a:prstGeom>
          <a:solidFill>
            <a:srgbClr val="0B3D91"/>
          </a:solidFill>
          <a:ln w="12700">
            <a:solidFill>
              <a:srgbClr val="0B3D91"/>
            </a:solidFill>
            <a:prstDash val="solid"/>
          </a:ln>
        </p:spPr>
      </p:sp>
      <p:pic>
        <p:nvPicPr>
          <p:cNvPr id="10" name="Image 1" descr="preencoded.png">    </p:cNvPr>
          <p:cNvPicPr>
            <a:picLocks noChangeAspect="1"/>
          </p:cNvPicPr>
          <p:nvPr/>
        </p:nvPicPr>
        <p:blipFill>
          <a:blip r:embed="rId2"/>
          <a:stretch>
            <a:fillRect/>
          </a:stretch>
        </p:blipFill>
        <p:spPr>
          <a:xfrm>
            <a:off x="4793285" y="1958645"/>
            <a:ext cx="380390" cy="380390"/>
          </a:xfrm>
          <a:prstGeom prst="rect">
            <a:avLst/>
          </a:prstGeom>
        </p:spPr>
      </p:pic>
      <p:sp>
        <p:nvSpPr>
          <p:cNvPr id="11" name="Text 7"/>
          <p:cNvSpPr txBox="1"/>
          <p:nvPr/>
        </p:nvSpPr>
        <p:spPr>
          <a:xfrm>
            <a:off x="4617720" y="2697480"/>
            <a:ext cx="2834640" cy="548640"/>
          </a:xfrm>
          <a:prstGeom prst="rect">
            <a:avLst/>
          </a:prstGeom>
          <a:noFill/>
          <a:ln/>
        </p:spPr>
        <p:txBody>
          <a:bodyPr wrap="square" lIns="0" tIns="0" rIns="0" bIns="0" rtlCol="0" anchor="ctr"/>
          <a:lstStyle/>
          <a:p>
            <a:pPr indent="0" marL="0">
              <a:buNone/>
            </a:pPr>
            <a:r>
              <a:rPr lang="en-US" sz="2000" b="1" dirty="0">
                <a:solidFill>
                  <a:srgbClr val="0B3D91"/>
                </a:solidFill>
              </a:rPr>
              <a:t>Thông tin rời rạc</a:t>
            </a:r>
            <a:endParaRPr lang="en-US" sz="2000" dirty="0"/>
          </a:p>
        </p:txBody>
      </p:sp>
      <p:sp>
        <p:nvSpPr>
          <p:cNvPr id="12" name="Text 8"/>
          <p:cNvSpPr txBox="1"/>
          <p:nvPr/>
        </p:nvSpPr>
        <p:spPr>
          <a:xfrm>
            <a:off x="4617720" y="3291840"/>
            <a:ext cx="2834640" cy="1554480"/>
          </a:xfrm>
          <a:prstGeom prst="rect">
            <a:avLst/>
          </a:prstGeom>
          <a:noFill/>
          <a:ln/>
        </p:spPr>
        <p:txBody>
          <a:bodyPr wrap="square" lIns="0" tIns="0" rIns="0" bIns="0" rtlCol="0" anchor="t"/>
          <a:lstStyle/>
          <a:p>
            <a:pPr indent="0" marL="0">
              <a:buNone/>
            </a:pPr>
            <a:r>
              <a:rPr lang="en-US" sz="1500" dirty="0">
                <a:solidFill>
                  <a:srgbClr val="334155"/>
                </a:solidFill>
              </a:rPr>
              <a:t>Sản phẩm chỉ được giới thiệu qua mạng xã hội, ngày hội; doanh nghiệp, nhà đầu tư khó tìm kiếm và liên hệ.</a:t>
            </a:r>
            <a:endParaRPr lang="en-US" sz="1500" dirty="0"/>
          </a:p>
        </p:txBody>
      </p:sp>
      <p:sp>
        <p:nvSpPr>
          <p:cNvPr id="13" name="Shape 9"/>
          <p:cNvSpPr/>
          <p:nvPr/>
        </p:nvSpPr>
        <p:spPr>
          <a:xfrm>
            <a:off x="8046720" y="1463040"/>
            <a:ext cx="3474720" cy="3566160"/>
          </a:xfrm>
          <a:prstGeom prst="roundRect">
            <a:avLst>
              <a:gd name="adj" fmla="val 3158"/>
            </a:avLst>
          </a:prstGeom>
          <a:solidFill>
            <a:srgbClr val="EEF3FB"/>
          </a:solidFill>
          <a:ln w="12700">
            <a:solidFill>
              <a:srgbClr val="EEF3FB"/>
            </a:solidFill>
            <a:prstDash val="solid"/>
          </a:ln>
        </p:spPr>
      </p:sp>
      <p:sp>
        <p:nvSpPr>
          <p:cNvPr id="14" name="Shape 10"/>
          <p:cNvSpPr/>
          <p:nvPr/>
        </p:nvSpPr>
        <p:spPr>
          <a:xfrm>
            <a:off x="8366760" y="1783080"/>
            <a:ext cx="731520" cy="731520"/>
          </a:xfrm>
          <a:prstGeom prst="ellipse">
            <a:avLst/>
          </a:prstGeom>
          <a:solidFill>
            <a:srgbClr val="0B3D91"/>
          </a:solidFill>
          <a:ln w="12700">
            <a:solidFill>
              <a:srgbClr val="0B3D91"/>
            </a:solidFill>
            <a:prstDash val="solid"/>
          </a:ln>
        </p:spPr>
      </p:sp>
      <p:pic>
        <p:nvPicPr>
          <p:cNvPr id="15" name="Image 2" descr="preencoded.png">    </p:cNvPr>
          <p:cNvPicPr>
            <a:picLocks noChangeAspect="1"/>
          </p:cNvPicPr>
          <p:nvPr/>
        </p:nvPicPr>
        <p:blipFill>
          <a:blip r:embed="rId3"/>
          <a:stretch>
            <a:fillRect/>
          </a:stretch>
        </p:blipFill>
        <p:spPr>
          <a:xfrm>
            <a:off x="8542325" y="1958645"/>
            <a:ext cx="380390" cy="380390"/>
          </a:xfrm>
          <a:prstGeom prst="rect">
            <a:avLst/>
          </a:prstGeom>
        </p:spPr>
      </p:pic>
      <p:sp>
        <p:nvSpPr>
          <p:cNvPr id="16" name="Text 11"/>
          <p:cNvSpPr txBox="1"/>
          <p:nvPr/>
        </p:nvSpPr>
        <p:spPr>
          <a:xfrm>
            <a:off x="8366760" y="2697480"/>
            <a:ext cx="2834640" cy="548640"/>
          </a:xfrm>
          <a:prstGeom prst="rect">
            <a:avLst/>
          </a:prstGeom>
          <a:noFill/>
          <a:ln/>
        </p:spPr>
        <p:txBody>
          <a:bodyPr wrap="square" lIns="0" tIns="0" rIns="0" bIns="0" rtlCol="0" anchor="ctr"/>
          <a:lstStyle/>
          <a:p>
            <a:pPr indent="0" marL="0">
              <a:buNone/>
            </a:pPr>
            <a:r>
              <a:rPr lang="en-US" sz="2000" b="1" dirty="0">
                <a:solidFill>
                  <a:srgbClr val="0B3D91"/>
                </a:solidFill>
              </a:rPr>
              <a:t>Trải nghiệm thực tế</a:t>
            </a:r>
            <a:endParaRPr lang="en-US" sz="2000" dirty="0"/>
          </a:p>
        </p:txBody>
      </p:sp>
      <p:sp>
        <p:nvSpPr>
          <p:cNvPr id="17" name="Text 12"/>
          <p:cNvSpPr txBox="1"/>
          <p:nvPr/>
        </p:nvSpPr>
        <p:spPr>
          <a:xfrm>
            <a:off x="8366760" y="3291840"/>
            <a:ext cx="2834640" cy="1554480"/>
          </a:xfrm>
          <a:prstGeom prst="rect">
            <a:avLst/>
          </a:prstGeom>
          <a:noFill/>
          <a:ln/>
        </p:spPr>
        <p:txBody>
          <a:bodyPr wrap="square" lIns="0" tIns="0" rIns="0" bIns="0" rtlCol="0" anchor="t"/>
          <a:lstStyle/>
          <a:p>
            <a:pPr indent="0" marL="0">
              <a:buNone/>
            </a:pPr>
            <a:r>
              <a:rPr lang="en-US" sz="1500" dirty="0">
                <a:solidFill>
                  <a:srgbClr val="334155"/>
                </a:solidFill>
              </a:rPr>
              <a:t>Tác giả tự phát triển sản phẩm Zalord, nhận thấy nhu cầu một kênh chính thống, có kiểm duyệt của nhà trường.</a:t>
            </a:r>
            <a:endParaRPr lang="en-US" sz="1500" dirty="0"/>
          </a:p>
        </p:txBody>
      </p:sp>
      <p:sp>
        <p:nvSpPr>
          <p:cNvPr id="18" name="Text 13"/>
          <p:cNvSpPr txBox="1"/>
          <p:nvPr/>
        </p:nvSpPr>
        <p:spPr>
          <a:xfrm>
            <a:off x="548640" y="5349240"/>
            <a:ext cx="11064240" cy="457200"/>
          </a:xfrm>
          <a:prstGeom prst="rect">
            <a:avLst/>
          </a:prstGeom>
          <a:noFill/>
          <a:ln/>
        </p:spPr>
        <p:txBody>
          <a:bodyPr wrap="square" lIns="0" tIns="0" rIns="0" bIns="0" rtlCol="0" anchor="ctr"/>
          <a:lstStyle/>
          <a:p>
            <a:pPr indent="0" marL="0">
              <a:buNone/>
            </a:pPr>
            <a:r>
              <a:rPr lang="en-US" sz="1800" i="1" dirty="0">
                <a:solidFill>
                  <a:srgbClr val="0B3D91"/>
                </a:solidFill>
              </a:rPr>
              <a:t>→ Cần một website tập trung để giới thiệu, kiểm duyệt và kết nối sản phẩm khởi nghiệp của sinh viên</a:t>
            </a:r>
            <a:endParaRPr lang="en-US" sz="18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Mục tiêu và phạm vi</a:t>
            </a:r>
            <a:endParaRPr lang="en-US" sz="3200" dirty="0"/>
          </a:p>
        </p:txBody>
      </p:sp>
      <p:sp>
        <p:nvSpPr>
          <p:cNvPr id="3" name="Text 1"/>
          <p:cNvSpPr txBox="1"/>
          <p:nvPr/>
        </p:nvSpPr>
        <p:spPr>
          <a:xfrm>
            <a:off x="548640" y="1417320"/>
            <a:ext cx="5669280" cy="3840480"/>
          </a:xfrm>
          <a:prstGeom prst="rect">
            <a:avLst/>
          </a:prstGeom>
          <a:noFill/>
          <a:ln/>
        </p:spPr>
        <p:txBody>
          <a:bodyPr wrap="square" rtlCol="0" anchor="t"/>
          <a:lstStyle/>
          <a:p>
            <a:pPr marL="342900" indent="-342900">
              <a:spcAft>
                <a:spcPts val="1200"/>
              </a:spcAft>
              <a:buSzPct val="100000"/>
              <a:buChar char="•"/>
            </a:pPr>
            <a:r>
              <a:rPr lang="en-US" sz="1700" dirty="0">
                <a:solidFill>
                  <a:srgbClr val="334155"/>
                </a:solidFill>
              </a:rPr>
              <a:t>Website giới thiệu tập trung dự án khởi nghiệp của sinh viên TVU</a:t>
            </a:r>
            <a:endParaRPr lang="en-US" sz="1700" dirty="0"/>
          </a:p>
          <a:p>
            <a:pPr marL="342900" indent="-342900">
              <a:spcAft>
                <a:spcPts val="1200"/>
              </a:spcAft>
              <a:buSzPct val="100000"/>
              <a:buChar char="•"/>
            </a:pPr>
            <a:r>
              <a:rPr lang="en-US" sz="1700" dirty="0">
                <a:solidFill>
                  <a:srgbClr val="334155"/>
                </a:solidFill>
              </a:rPr>
              <a:t>Nhiều sinh viên tự đăng ký, đăng và quản lý dự án</a:t>
            </a:r>
            <a:endParaRPr lang="en-US" sz="1700" dirty="0"/>
          </a:p>
          <a:p>
            <a:pPr marL="342900" indent="-342900">
              <a:spcAft>
                <a:spcPts val="1200"/>
              </a:spcAft>
              <a:buSzPct val="100000"/>
              <a:buChar char="•"/>
            </a:pPr>
            <a:r>
              <a:rPr lang="en-US" sz="1700" dirty="0">
                <a:solidFill>
                  <a:srgbClr val="334155"/>
                </a:solidFill>
              </a:rPr>
              <a:t>Quy trình kiểm duyệt trước khi công khai</a:t>
            </a:r>
            <a:endParaRPr lang="en-US" sz="1700" dirty="0"/>
          </a:p>
          <a:p>
            <a:pPr marL="342900" indent="-342900">
              <a:spcAft>
                <a:spcPts val="1200"/>
              </a:spcAft>
              <a:buSzPct val="100000"/>
              <a:buChar char="•"/>
            </a:pPr>
            <a:r>
              <a:rPr lang="en-US" sz="1700" dirty="0">
                <a:solidFill>
                  <a:srgbClr val="334155"/>
                </a:solidFill>
              </a:rPr>
              <a:t>Kết nối với doanh nghiệp: bình luận, đánh giá, liên hệ hợp tác</a:t>
            </a:r>
            <a:endParaRPr lang="en-US" sz="1700" dirty="0"/>
          </a:p>
          <a:p>
            <a:pPr marL="342900" indent="-342900">
              <a:spcAft>
                <a:spcPts val="1200"/>
              </a:spcAft>
              <a:buSzPct val="100000"/>
              <a:buChar char="•"/>
            </a:pPr>
            <a:r>
              <a:rPr lang="en-US" sz="1700" dirty="0">
                <a:solidFill>
                  <a:srgbClr val="334155"/>
                </a:solidFill>
              </a:rPr>
              <a:t>Quản trị, thống kê; bảo đảm an toàn thông tin</a:t>
            </a:r>
            <a:endParaRPr lang="en-US" sz="1700" dirty="0"/>
          </a:p>
        </p:txBody>
      </p:sp>
      <p:sp>
        <p:nvSpPr>
          <p:cNvPr id="4" name="Text 2"/>
          <p:cNvSpPr txBox="1"/>
          <p:nvPr/>
        </p:nvSpPr>
        <p:spPr>
          <a:xfrm>
            <a:off x="548640" y="5532120"/>
            <a:ext cx="5669280" cy="548640"/>
          </a:xfrm>
          <a:prstGeom prst="rect">
            <a:avLst/>
          </a:prstGeom>
          <a:noFill/>
          <a:ln/>
        </p:spPr>
        <p:txBody>
          <a:bodyPr wrap="square" lIns="0" tIns="0" rIns="0" bIns="0" rtlCol="0" anchor="ctr"/>
          <a:lstStyle/>
          <a:p>
            <a:pPr indent="0" marL="0">
              <a:buNone/>
            </a:pPr>
            <a:r>
              <a:rPr lang="en-US" sz="1300" i="1" dirty="0">
                <a:solidFill>
                  <a:srgbClr val="64748B"/>
                </a:solidFill>
              </a:rPr>
              <a:t>Dữ liệu mẫu theo định hướng của GVHD; dự án Zalord là sản phẩm thật của tác giả</a:t>
            </a:r>
            <a:endParaRPr lang="en-US" sz="1300" dirty="0"/>
          </a:p>
        </p:txBody>
      </p:sp>
      <p:sp>
        <p:nvSpPr>
          <p:cNvPr id="5" name="Shape 3"/>
          <p:cNvSpPr/>
          <p:nvPr/>
        </p:nvSpPr>
        <p:spPr>
          <a:xfrm>
            <a:off x="6675120" y="1463040"/>
            <a:ext cx="2286000" cy="2011680"/>
          </a:xfrm>
          <a:prstGeom prst="roundRect">
            <a:avLst>
              <a:gd name="adj" fmla="val 5455"/>
            </a:avLst>
          </a:prstGeom>
          <a:solidFill>
            <a:srgbClr val="EEF3FB"/>
          </a:solidFill>
          <a:ln w="12700">
            <a:solidFill>
              <a:srgbClr val="EEF3FB"/>
            </a:solidFill>
            <a:prstDash val="solid"/>
          </a:ln>
        </p:spPr>
      </p:sp>
      <p:sp>
        <p:nvSpPr>
          <p:cNvPr id="6" name="Text 4"/>
          <p:cNvSpPr txBox="1"/>
          <p:nvPr/>
        </p:nvSpPr>
        <p:spPr>
          <a:xfrm>
            <a:off x="6675120" y="1691640"/>
            <a:ext cx="2286000" cy="1051560"/>
          </a:xfrm>
          <a:prstGeom prst="rect">
            <a:avLst/>
          </a:prstGeom>
          <a:noFill/>
          <a:ln/>
        </p:spPr>
        <p:txBody>
          <a:bodyPr wrap="square" lIns="0" tIns="0" rIns="0" bIns="0" rtlCol="0" anchor="ctr"/>
          <a:lstStyle/>
          <a:p>
            <a:pPr algn="ctr" indent="0" marL="0">
              <a:buNone/>
            </a:pPr>
            <a:r>
              <a:rPr lang="en-US" sz="6000" b="1" dirty="0">
                <a:solidFill>
                  <a:srgbClr val="0B3D91"/>
                </a:solidFill>
                <a:latin typeface="Cambria" pitchFamily="34" charset="0"/>
                <a:ea typeface="Cambria" pitchFamily="34" charset="-122"/>
                <a:cs typeface="Cambria" pitchFamily="34" charset="-120"/>
              </a:rPr>
              <a:t>3</a:t>
            </a:r>
            <a:endParaRPr lang="en-US" sz="6000" dirty="0"/>
          </a:p>
        </p:txBody>
      </p:sp>
      <p:sp>
        <p:nvSpPr>
          <p:cNvPr id="7" name="Text 5"/>
          <p:cNvSpPr txBox="1"/>
          <p:nvPr/>
        </p:nvSpPr>
        <p:spPr>
          <a:xfrm>
            <a:off x="6675120" y="2743200"/>
            <a:ext cx="2286000" cy="457200"/>
          </a:xfrm>
          <a:prstGeom prst="rect">
            <a:avLst/>
          </a:prstGeom>
          <a:noFill/>
          <a:ln/>
        </p:spPr>
        <p:txBody>
          <a:bodyPr wrap="square" lIns="0" tIns="0" rIns="0" bIns="0" rtlCol="0" anchor="ctr"/>
          <a:lstStyle/>
          <a:p>
            <a:pPr algn="ctr" indent="0" marL="0">
              <a:buNone/>
            </a:pPr>
            <a:r>
              <a:rPr lang="en-US" sz="1600" dirty="0">
                <a:solidFill>
                  <a:srgbClr val="334155"/>
                </a:solidFill>
              </a:rPr>
              <a:t>tác nhân</a:t>
            </a:r>
            <a:endParaRPr lang="en-US" sz="1600" dirty="0"/>
          </a:p>
        </p:txBody>
      </p:sp>
      <p:sp>
        <p:nvSpPr>
          <p:cNvPr id="8" name="Shape 6"/>
          <p:cNvSpPr/>
          <p:nvPr/>
        </p:nvSpPr>
        <p:spPr>
          <a:xfrm>
            <a:off x="9189720" y="1463040"/>
            <a:ext cx="2286000" cy="2011680"/>
          </a:xfrm>
          <a:prstGeom prst="roundRect">
            <a:avLst>
              <a:gd name="adj" fmla="val 5455"/>
            </a:avLst>
          </a:prstGeom>
          <a:solidFill>
            <a:srgbClr val="0B3D91"/>
          </a:solidFill>
          <a:ln w="12700">
            <a:solidFill>
              <a:srgbClr val="0B3D91"/>
            </a:solidFill>
            <a:prstDash val="solid"/>
          </a:ln>
        </p:spPr>
      </p:sp>
      <p:sp>
        <p:nvSpPr>
          <p:cNvPr id="9" name="Text 7"/>
          <p:cNvSpPr txBox="1"/>
          <p:nvPr/>
        </p:nvSpPr>
        <p:spPr>
          <a:xfrm>
            <a:off x="9189720" y="1691640"/>
            <a:ext cx="2286000" cy="105156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24</a:t>
            </a:r>
            <a:endParaRPr lang="en-US" sz="6000" dirty="0"/>
          </a:p>
        </p:txBody>
      </p:sp>
      <p:sp>
        <p:nvSpPr>
          <p:cNvPr id="10" name="Text 8"/>
          <p:cNvSpPr txBox="1"/>
          <p:nvPr/>
        </p:nvSpPr>
        <p:spPr>
          <a:xfrm>
            <a:off x="9189720" y="2743200"/>
            <a:ext cx="2286000" cy="457200"/>
          </a:xfrm>
          <a:prstGeom prst="rect">
            <a:avLst/>
          </a:prstGeom>
          <a:noFill/>
          <a:ln/>
        </p:spPr>
        <p:txBody>
          <a:bodyPr wrap="square" lIns="0" tIns="0" rIns="0" bIns="0" rtlCol="0" anchor="ctr"/>
          <a:lstStyle/>
          <a:p>
            <a:pPr algn="ctr" indent="0" marL="0">
              <a:buNone/>
            </a:pPr>
            <a:r>
              <a:rPr lang="en-US" sz="1600" dirty="0">
                <a:solidFill>
                  <a:srgbClr val="C7D2FE"/>
                </a:solidFill>
              </a:rPr>
              <a:t>chức năng</a:t>
            </a:r>
            <a:endParaRPr lang="en-US" sz="1600" dirty="0"/>
          </a:p>
        </p:txBody>
      </p:sp>
      <p:sp>
        <p:nvSpPr>
          <p:cNvPr id="11" name="Shape 9"/>
          <p:cNvSpPr/>
          <p:nvPr/>
        </p:nvSpPr>
        <p:spPr>
          <a:xfrm>
            <a:off x="6675120" y="3703320"/>
            <a:ext cx="2286000" cy="2011680"/>
          </a:xfrm>
          <a:prstGeom prst="roundRect">
            <a:avLst>
              <a:gd name="adj" fmla="val 5455"/>
            </a:avLst>
          </a:prstGeom>
          <a:solidFill>
            <a:srgbClr val="EEF3FB"/>
          </a:solidFill>
          <a:ln w="12700">
            <a:solidFill>
              <a:srgbClr val="EEF3FB"/>
            </a:solidFill>
            <a:prstDash val="solid"/>
          </a:ln>
        </p:spPr>
      </p:sp>
      <p:sp>
        <p:nvSpPr>
          <p:cNvPr id="12" name="Text 10"/>
          <p:cNvSpPr txBox="1"/>
          <p:nvPr/>
        </p:nvSpPr>
        <p:spPr>
          <a:xfrm>
            <a:off x="6675120" y="3931920"/>
            <a:ext cx="2286000" cy="1051560"/>
          </a:xfrm>
          <a:prstGeom prst="rect">
            <a:avLst/>
          </a:prstGeom>
          <a:noFill/>
          <a:ln/>
        </p:spPr>
        <p:txBody>
          <a:bodyPr wrap="square" lIns="0" tIns="0" rIns="0" bIns="0" rtlCol="0" anchor="ctr"/>
          <a:lstStyle/>
          <a:p>
            <a:pPr algn="ctr" indent="0" marL="0">
              <a:buNone/>
            </a:pPr>
            <a:r>
              <a:rPr lang="en-US" sz="6000" b="1" dirty="0">
                <a:solidFill>
                  <a:srgbClr val="0B3D91"/>
                </a:solidFill>
                <a:latin typeface="Cambria" pitchFamily="34" charset="0"/>
                <a:ea typeface="Cambria" pitchFamily="34" charset="-122"/>
                <a:cs typeface="Cambria" pitchFamily="34" charset="-120"/>
              </a:rPr>
              <a:t>14</a:t>
            </a:r>
            <a:endParaRPr lang="en-US" sz="6000" dirty="0"/>
          </a:p>
        </p:txBody>
      </p:sp>
      <p:sp>
        <p:nvSpPr>
          <p:cNvPr id="13" name="Text 11"/>
          <p:cNvSpPr txBox="1"/>
          <p:nvPr/>
        </p:nvSpPr>
        <p:spPr>
          <a:xfrm>
            <a:off x="6675120" y="4983480"/>
            <a:ext cx="2286000" cy="457200"/>
          </a:xfrm>
          <a:prstGeom prst="rect">
            <a:avLst/>
          </a:prstGeom>
          <a:noFill/>
          <a:ln/>
        </p:spPr>
        <p:txBody>
          <a:bodyPr wrap="square" lIns="0" tIns="0" rIns="0" bIns="0" rtlCol="0" anchor="ctr"/>
          <a:lstStyle/>
          <a:p>
            <a:pPr algn="ctr" indent="0" marL="0">
              <a:buNone/>
            </a:pPr>
            <a:r>
              <a:rPr lang="en-US" sz="1600" dirty="0">
                <a:solidFill>
                  <a:srgbClr val="334155"/>
                </a:solidFill>
              </a:rPr>
              <a:t>bảng dữ liệu</a:t>
            </a:r>
            <a:endParaRPr lang="en-US" sz="1600" dirty="0"/>
          </a:p>
        </p:txBody>
      </p:sp>
      <p:sp>
        <p:nvSpPr>
          <p:cNvPr id="14" name="Shape 12"/>
          <p:cNvSpPr/>
          <p:nvPr/>
        </p:nvSpPr>
        <p:spPr>
          <a:xfrm>
            <a:off x="9189720" y="3703320"/>
            <a:ext cx="2286000" cy="2011680"/>
          </a:xfrm>
          <a:prstGeom prst="roundRect">
            <a:avLst>
              <a:gd name="adj" fmla="val 5455"/>
            </a:avLst>
          </a:prstGeom>
          <a:solidFill>
            <a:srgbClr val="EEF3FB"/>
          </a:solidFill>
          <a:ln w="12700">
            <a:solidFill>
              <a:srgbClr val="EEF3FB"/>
            </a:solidFill>
            <a:prstDash val="solid"/>
          </a:ln>
        </p:spPr>
      </p:sp>
      <p:sp>
        <p:nvSpPr>
          <p:cNvPr id="15" name="Text 13"/>
          <p:cNvSpPr txBox="1"/>
          <p:nvPr/>
        </p:nvSpPr>
        <p:spPr>
          <a:xfrm>
            <a:off x="9189720" y="3931920"/>
            <a:ext cx="2286000" cy="1051560"/>
          </a:xfrm>
          <a:prstGeom prst="rect">
            <a:avLst/>
          </a:prstGeom>
          <a:noFill/>
          <a:ln/>
        </p:spPr>
        <p:txBody>
          <a:bodyPr wrap="square" lIns="0" tIns="0" rIns="0" bIns="0" rtlCol="0" anchor="ctr"/>
          <a:lstStyle/>
          <a:p>
            <a:pPr algn="ctr" indent="0" marL="0">
              <a:buNone/>
            </a:pPr>
            <a:r>
              <a:rPr lang="en-US" sz="6000" b="1" dirty="0">
                <a:solidFill>
                  <a:srgbClr val="0B3D91"/>
                </a:solidFill>
                <a:latin typeface="Cambria" pitchFamily="34" charset="0"/>
                <a:ea typeface="Cambria" pitchFamily="34" charset="-122"/>
                <a:cs typeface="Cambria" pitchFamily="34" charset="-120"/>
              </a:rPr>
              <a:t>13</a:t>
            </a:r>
            <a:endParaRPr lang="en-US" sz="6000" dirty="0"/>
          </a:p>
        </p:txBody>
      </p:sp>
      <p:sp>
        <p:nvSpPr>
          <p:cNvPr id="16" name="Text 14"/>
          <p:cNvSpPr txBox="1"/>
          <p:nvPr/>
        </p:nvSpPr>
        <p:spPr>
          <a:xfrm>
            <a:off x="9189720" y="4983480"/>
            <a:ext cx="2286000" cy="457200"/>
          </a:xfrm>
          <a:prstGeom prst="rect">
            <a:avLst/>
          </a:prstGeom>
          <a:noFill/>
          <a:ln/>
        </p:spPr>
        <p:txBody>
          <a:bodyPr wrap="square" lIns="0" tIns="0" rIns="0" bIns="0" rtlCol="0" anchor="ctr"/>
          <a:lstStyle/>
          <a:p>
            <a:pPr algn="ctr" indent="0" marL="0">
              <a:buNone/>
            </a:pPr>
            <a:r>
              <a:rPr lang="en-US" sz="1600" dirty="0">
                <a:solidFill>
                  <a:srgbClr val="334155"/>
                </a:solidFill>
              </a:rPr>
              <a:t>dự án mẫu</a:t>
            </a:r>
            <a:endParaRPr lang="en-US" sz="16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Công nghệ sử dụng</a:t>
            </a:r>
            <a:endParaRPr lang="en-US" sz="3200" dirty="0"/>
          </a:p>
        </p:txBody>
      </p:sp>
      <p:sp>
        <p:nvSpPr>
          <p:cNvPr id="3" name="Shape 1"/>
          <p:cNvSpPr/>
          <p:nvPr/>
        </p:nvSpPr>
        <p:spPr>
          <a:xfrm>
            <a:off x="548640" y="1508760"/>
            <a:ext cx="2560320" cy="1965960"/>
          </a:xfrm>
          <a:prstGeom prst="roundRect">
            <a:avLst>
              <a:gd name="adj" fmla="val 5581"/>
            </a:avLst>
          </a:prstGeom>
          <a:solidFill>
            <a:srgbClr val="EEF3FB"/>
          </a:solidFill>
          <a:ln w="12700">
            <a:solidFill>
              <a:srgbClr val="EEF3FB"/>
            </a:solidFill>
            <a:prstDash val="solid"/>
          </a:ln>
        </p:spPr>
      </p:sp>
      <p:sp>
        <p:nvSpPr>
          <p:cNvPr id="4" name="Shape 2"/>
          <p:cNvSpPr/>
          <p:nvPr/>
        </p:nvSpPr>
        <p:spPr>
          <a:xfrm>
            <a:off x="822960" y="1783080"/>
            <a:ext cx="566928" cy="566928"/>
          </a:xfrm>
          <a:prstGeom prst="ellipse">
            <a:avLst/>
          </a:prstGeom>
          <a:solidFill>
            <a:srgbClr val="0B3D91"/>
          </a:solidFill>
          <a:ln w="12700">
            <a:solidFill>
              <a:srgbClr val="0B3D91"/>
            </a:solidFill>
            <a:prstDash val="solid"/>
          </a:ln>
        </p:spPr>
      </p:sp>
      <p:pic>
        <p:nvPicPr>
          <p:cNvPr id="5" name="Image 0" descr="preencoded.png">    </p:cNvPr>
          <p:cNvPicPr>
            <a:picLocks noChangeAspect="1"/>
          </p:cNvPicPr>
          <p:nvPr/>
        </p:nvPicPr>
        <p:blipFill>
          <a:blip r:embed="rId1"/>
          <a:stretch>
            <a:fillRect/>
          </a:stretch>
        </p:blipFill>
        <p:spPr>
          <a:xfrm>
            <a:off x="959023" y="1919143"/>
            <a:ext cx="294803" cy="294803"/>
          </a:xfrm>
          <a:prstGeom prst="rect">
            <a:avLst/>
          </a:prstGeom>
        </p:spPr>
      </p:pic>
      <p:sp>
        <p:nvSpPr>
          <p:cNvPr id="6" name="Text 3"/>
          <p:cNvSpPr txBox="1"/>
          <p:nvPr/>
        </p:nvSpPr>
        <p:spPr>
          <a:xfrm>
            <a:off x="822960" y="2468880"/>
            <a:ext cx="2103120" cy="868680"/>
          </a:xfrm>
          <a:prstGeom prst="rect">
            <a:avLst/>
          </a:prstGeom>
          <a:noFill/>
          <a:ln/>
        </p:spPr>
        <p:txBody>
          <a:bodyPr wrap="square" lIns="0" tIns="0" rIns="0" bIns="0" rtlCol="0" anchor="t"/>
          <a:lstStyle/>
          <a:p>
            <a:pPr indent="0" marL="0">
              <a:buNone/>
            </a:pPr>
            <a:r>
              <a:rPr lang="en-US" sz="1700" b="1" dirty="0">
                <a:solidFill>
                  <a:srgbClr val="0F172A"/>
                </a:solidFill>
              </a:rPr>
              <a:t>ASP.NET Core MVC</a:t>
            </a:r>
            <a:endParaRPr lang="en-US" sz="1700" dirty="0"/>
          </a:p>
          <a:p>
            <a:pPr indent="0" marL="0">
              <a:buNone/>
            </a:pPr>
            <a:r>
              <a:rPr lang="en-US" sz="1300" dirty="0">
                <a:solidFill>
                  <a:srgbClr val="64748B"/>
                </a:solidFill>
              </a:rPr>
              <a:t>.NET 8 · C# 12 · Razor</a:t>
            </a:r>
            <a:endParaRPr lang="en-US" sz="1700" dirty="0"/>
          </a:p>
        </p:txBody>
      </p:sp>
      <p:sp>
        <p:nvSpPr>
          <p:cNvPr id="7" name="Shape 4"/>
          <p:cNvSpPr/>
          <p:nvPr/>
        </p:nvSpPr>
        <p:spPr>
          <a:xfrm>
            <a:off x="3337560" y="1508760"/>
            <a:ext cx="2560320" cy="1965960"/>
          </a:xfrm>
          <a:prstGeom prst="roundRect">
            <a:avLst>
              <a:gd name="adj" fmla="val 5581"/>
            </a:avLst>
          </a:prstGeom>
          <a:solidFill>
            <a:srgbClr val="EEF3FB"/>
          </a:solidFill>
          <a:ln w="12700">
            <a:solidFill>
              <a:srgbClr val="EEF3FB"/>
            </a:solidFill>
            <a:prstDash val="solid"/>
          </a:ln>
        </p:spPr>
      </p:sp>
      <p:sp>
        <p:nvSpPr>
          <p:cNvPr id="8" name="Shape 5"/>
          <p:cNvSpPr/>
          <p:nvPr/>
        </p:nvSpPr>
        <p:spPr>
          <a:xfrm>
            <a:off x="3611880" y="1783080"/>
            <a:ext cx="566928" cy="566928"/>
          </a:xfrm>
          <a:prstGeom prst="ellipse">
            <a:avLst/>
          </a:prstGeom>
          <a:solidFill>
            <a:srgbClr val="0B3D91"/>
          </a:solidFill>
          <a:ln w="12700">
            <a:solidFill>
              <a:srgbClr val="0B3D91"/>
            </a:solidFill>
            <a:prstDash val="solid"/>
          </a:ln>
        </p:spPr>
      </p:sp>
      <p:pic>
        <p:nvPicPr>
          <p:cNvPr id="9" name="Image 1" descr="preencoded.png">    </p:cNvPr>
          <p:cNvPicPr>
            <a:picLocks noChangeAspect="1"/>
          </p:cNvPicPr>
          <p:nvPr/>
        </p:nvPicPr>
        <p:blipFill>
          <a:blip r:embed="rId2"/>
          <a:stretch>
            <a:fillRect/>
          </a:stretch>
        </p:blipFill>
        <p:spPr>
          <a:xfrm>
            <a:off x="3747943" y="1919143"/>
            <a:ext cx="294803" cy="294803"/>
          </a:xfrm>
          <a:prstGeom prst="rect">
            <a:avLst/>
          </a:prstGeom>
        </p:spPr>
      </p:pic>
      <p:sp>
        <p:nvSpPr>
          <p:cNvPr id="10" name="Text 6"/>
          <p:cNvSpPr txBox="1"/>
          <p:nvPr/>
        </p:nvSpPr>
        <p:spPr>
          <a:xfrm>
            <a:off x="3611880" y="2468880"/>
            <a:ext cx="2103120" cy="868680"/>
          </a:xfrm>
          <a:prstGeom prst="rect">
            <a:avLst/>
          </a:prstGeom>
          <a:noFill/>
          <a:ln/>
        </p:spPr>
        <p:txBody>
          <a:bodyPr wrap="square" lIns="0" tIns="0" rIns="0" bIns="0" rtlCol="0" anchor="t"/>
          <a:lstStyle/>
          <a:p>
            <a:pPr indent="0" marL="0">
              <a:buNone/>
            </a:pPr>
            <a:r>
              <a:rPr lang="en-US" sz="1700" b="1" dirty="0">
                <a:solidFill>
                  <a:srgbClr val="0F172A"/>
                </a:solidFill>
              </a:rPr>
              <a:t>Entity Framework Core 8</a:t>
            </a:r>
            <a:endParaRPr lang="en-US" sz="1700" dirty="0"/>
          </a:p>
          <a:p>
            <a:pPr indent="0" marL="0">
              <a:buNone/>
            </a:pPr>
            <a:r>
              <a:rPr lang="en-US" sz="1300" dirty="0">
                <a:solidFill>
                  <a:srgbClr val="64748B"/>
                </a:solidFill>
              </a:rPr>
              <a:t>Code First · Migration · LINQ</a:t>
            </a:r>
            <a:endParaRPr lang="en-US" sz="1700" dirty="0"/>
          </a:p>
        </p:txBody>
      </p:sp>
      <p:sp>
        <p:nvSpPr>
          <p:cNvPr id="11" name="Shape 7"/>
          <p:cNvSpPr/>
          <p:nvPr/>
        </p:nvSpPr>
        <p:spPr>
          <a:xfrm>
            <a:off x="6126480" y="1508760"/>
            <a:ext cx="2560320" cy="1965960"/>
          </a:xfrm>
          <a:prstGeom prst="roundRect">
            <a:avLst>
              <a:gd name="adj" fmla="val 5581"/>
            </a:avLst>
          </a:prstGeom>
          <a:solidFill>
            <a:srgbClr val="EEF3FB"/>
          </a:solidFill>
          <a:ln w="12700">
            <a:solidFill>
              <a:srgbClr val="EEF3FB"/>
            </a:solidFill>
            <a:prstDash val="solid"/>
          </a:ln>
        </p:spPr>
      </p:sp>
      <p:sp>
        <p:nvSpPr>
          <p:cNvPr id="12" name="Shape 8"/>
          <p:cNvSpPr/>
          <p:nvPr/>
        </p:nvSpPr>
        <p:spPr>
          <a:xfrm>
            <a:off x="6400800" y="1783080"/>
            <a:ext cx="566928" cy="566928"/>
          </a:xfrm>
          <a:prstGeom prst="ellipse">
            <a:avLst/>
          </a:prstGeom>
          <a:solidFill>
            <a:srgbClr val="0B3D91"/>
          </a:solidFill>
          <a:ln w="12700">
            <a:solidFill>
              <a:srgbClr val="0B3D91"/>
            </a:solidFill>
            <a:prstDash val="solid"/>
          </a:ln>
        </p:spPr>
      </p:sp>
      <p:pic>
        <p:nvPicPr>
          <p:cNvPr id="13" name="Image 2" descr="preencoded.png">    </p:cNvPr>
          <p:cNvPicPr>
            <a:picLocks noChangeAspect="1"/>
          </p:cNvPicPr>
          <p:nvPr/>
        </p:nvPicPr>
        <p:blipFill>
          <a:blip r:embed="rId3"/>
          <a:stretch>
            <a:fillRect/>
          </a:stretch>
        </p:blipFill>
        <p:spPr>
          <a:xfrm>
            <a:off x="6536863" y="1919143"/>
            <a:ext cx="294803" cy="294803"/>
          </a:xfrm>
          <a:prstGeom prst="rect">
            <a:avLst/>
          </a:prstGeom>
        </p:spPr>
      </p:pic>
      <p:sp>
        <p:nvSpPr>
          <p:cNvPr id="14" name="Text 9"/>
          <p:cNvSpPr txBox="1"/>
          <p:nvPr/>
        </p:nvSpPr>
        <p:spPr>
          <a:xfrm>
            <a:off x="6400800" y="2468880"/>
            <a:ext cx="2103120" cy="868680"/>
          </a:xfrm>
          <a:prstGeom prst="rect">
            <a:avLst/>
          </a:prstGeom>
          <a:noFill/>
          <a:ln/>
        </p:spPr>
        <p:txBody>
          <a:bodyPr wrap="square" lIns="0" tIns="0" rIns="0" bIns="0" rtlCol="0" anchor="t"/>
          <a:lstStyle/>
          <a:p>
            <a:pPr indent="0" marL="0">
              <a:buNone/>
            </a:pPr>
            <a:r>
              <a:rPr lang="en-US" sz="1700" b="1" dirty="0">
                <a:solidFill>
                  <a:srgbClr val="0F172A"/>
                </a:solidFill>
              </a:rPr>
              <a:t>SQL Server 2022</a:t>
            </a:r>
            <a:endParaRPr lang="en-US" sz="1700" dirty="0"/>
          </a:p>
          <a:p>
            <a:pPr indent="0" marL="0">
              <a:buNone/>
            </a:pPr>
            <a:r>
              <a:rPr lang="en-US" sz="1300" dirty="0">
                <a:solidFill>
                  <a:srgbClr val="64748B"/>
                </a:solidFill>
              </a:rPr>
              <a:t>Collation Vietnamese_CI_AI</a:t>
            </a:r>
            <a:endParaRPr lang="en-US" sz="1700" dirty="0"/>
          </a:p>
        </p:txBody>
      </p:sp>
      <p:sp>
        <p:nvSpPr>
          <p:cNvPr id="15" name="Shape 10"/>
          <p:cNvSpPr/>
          <p:nvPr/>
        </p:nvSpPr>
        <p:spPr>
          <a:xfrm>
            <a:off x="8915400" y="1508760"/>
            <a:ext cx="2560320" cy="1965960"/>
          </a:xfrm>
          <a:prstGeom prst="roundRect">
            <a:avLst>
              <a:gd name="adj" fmla="val 5581"/>
            </a:avLst>
          </a:prstGeom>
          <a:solidFill>
            <a:srgbClr val="EEF3FB"/>
          </a:solidFill>
          <a:ln w="12700">
            <a:solidFill>
              <a:srgbClr val="EEF3FB"/>
            </a:solidFill>
            <a:prstDash val="solid"/>
          </a:ln>
        </p:spPr>
      </p:sp>
      <p:sp>
        <p:nvSpPr>
          <p:cNvPr id="16" name="Shape 11"/>
          <p:cNvSpPr/>
          <p:nvPr/>
        </p:nvSpPr>
        <p:spPr>
          <a:xfrm>
            <a:off x="9189720" y="1783080"/>
            <a:ext cx="566928" cy="566928"/>
          </a:xfrm>
          <a:prstGeom prst="ellipse">
            <a:avLst/>
          </a:prstGeom>
          <a:solidFill>
            <a:srgbClr val="0B3D91"/>
          </a:solidFill>
          <a:ln w="12700">
            <a:solidFill>
              <a:srgbClr val="0B3D91"/>
            </a:solidFill>
            <a:prstDash val="solid"/>
          </a:ln>
        </p:spPr>
      </p:sp>
      <p:pic>
        <p:nvPicPr>
          <p:cNvPr id="17" name="Image 3" descr="preencoded.png">    </p:cNvPr>
          <p:cNvPicPr>
            <a:picLocks noChangeAspect="1"/>
          </p:cNvPicPr>
          <p:nvPr/>
        </p:nvPicPr>
        <p:blipFill>
          <a:blip r:embed="rId4"/>
          <a:stretch>
            <a:fillRect/>
          </a:stretch>
        </p:blipFill>
        <p:spPr>
          <a:xfrm>
            <a:off x="9325783" y="1919143"/>
            <a:ext cx="294803" cy="294803"/>
          </a:xfrm>
          <a:prstGeom prst="rect">
            <a:avLst/>
          </a:prstGeom>
        </p:spPr>
      </p:pic>
      <p:sp>
        <p:nvSpPr>
          <p:cNvPr id="18" name="Text 12"/>
          <p:cNvSpPr txBox="1"/>
          <p:nvPr/>
        </p:nvSpPr>
        <p:spPr>
          <a:xfrm>
            <a:off x="9189720" y="2468880"/>
            <a:ext cx="2103120" cy="868680"/>
          </a:xfrm>
          <a:prstGeom prst="rect">
            <a:avLst/>
          </a:prstGeom>
          <a:noFill/>
          <a:ln/>
        </p:spPr>
        <p:txBody>
          <a:bodyPr wrap="square" lIns="0" tIns="0" rIns="0" bIns="0" rtlCol="0" anchor="t"/>
          <a:lstStyle/>
          <a:p>
            <a:pPr indent="0" marL="0">
              <a:buNone/>
            </a:pPr>
            <a:r>
              <a:rPr lang="en-US" sz="1700" b="1" dirty="0">
                <a:solidFill>
                  <a:srgbClr val="0F172A"/>
                </a:solidFill>
              </a:rPr>
              <a:t>Cookie Authentication</a:t>
            </a:r>
            <a:endParaRPr lang="en-US" sz="1700" dirty="0"/>
          </a:p>
          <a:p>
            <a:pPr indent="0" marL="0">
              <a:buNone/>
            </a:pPr>
            <a:r>
              <a:rPr lang="en-US" sz="1300" dirty="0">
                <a:solidFill>
                  <a:srgbClr val="64748B"/>
                </a:solidFill>
              </a:rPr>
              <a:t>PasswordHasher (PBKDF2)</a:t>
            </a:r>
            <a:endParaRPr lang="en-US" sz="1700" dirty="0"/>
          </a:p>
        </p:txBody>
      </p:sp>
      <p:sp>
        <p:nvSpPr>
          <p:cNvPr id="19" name="Shape 13"/>
          <p:cNvSpPr/>
          <p:nvPr/>
        </p:nvSpPr>
        <p:spPr>
          <a:xfrm>
            <a:off x="548640" y="3749040"/>
            <a:ext cx="2560320" cy="1965960"/>
          </a:xfrm>
          <a:prstGeom prst="roundRect">
            <a:avLst>
              <a:gd name="adj" fmla="val 5581"/>
            </a:avLst>
          </a:prstGeom>
          <a:solidFill>
            <a:srgbClr val="EEF3FB"/>
          </a:solidFill>
          <a:ln w="12700">
            <a:solidFill>
              <a:srgbClr val="EEF3FB"/>
            </a:solidFill>
            <a:prstDash val="solid"/>
          </a:ln>
        </p:spPr>
      </p:sp>
      <p:sp>
        <p:nvSpPr>
          <p:cNvPr id="20" name="Shape 14"/>
          <p:cNvSpPr/>
          <p:nvPr/>
        </p:nvSpPr>
        <p:spPr>
          <a:xfrm>
            <a:off x="822960" y="4023360"/>
            <a:ext cx="566928" cy="566928"/>
          </a:xfrm>
          <a:prstGeom prst="ellipse">
            <a:avLst/>
          </a:prstGeom>
          <a:solidFill>
            <a:srgbClr val="F59E0B"/>
          </a:solidFill>
          <a:ln w="12700">
            <a:solidFill>
              <a:srgbClr val="F59E0B"/>
            </a:solidFill>
            <a:prstDash val="solid"/>
          </a:ln>
        </p:spPr>
      </p:sp>
      <p:pic>
        <p:nvPicPr>
          <p:cNvPr id="21" name="Image 4" descr="preencoded.png">    </p:cNvPr>
          <p:cNvPicPr>
            <a:picLocks noChangeAspect="1"/>
          </p:cNvPicPr>
          <p:nvPr/>
        </p:nvPicPr>
        <p:blipFill>
          <a:blip r:embed="rId5"/>
          <a:stretch>
            <a:fillRect/>
          </a:stretch>
        </p:blipFill>
        <p:spPr>
          <a:xfrm>
            <a:off x="959023" y="4159423"/>
            <a:ext cx="294803" cy="294803"/>
          </a:xfrm>
          <a:prstGeom prst="rect">
            <a:avLst/>
          </a:prstGeom>
        </p:spPr>
      </p:pic>
      <p:sp>
        <p:nvSpPr>
          <p:cNvPr id="22" name="Text 15"/>
          <p:cNvSpPr txBox="1"/>
          <p:nvPr/>
        </p:nvSpPr>
        <p:spPr>
          <a:xfrm>
            <a:off x="822960" y="4709160"/>
            <a:ext cx="2103120" cy="868680"/>
          </a:xfrm>
          <a:prstGeom prst="rect">
            <a:avLst/>
          </a:prstGeom>
          <a:noFill/>
          <a:ln/>
        </p:spPr>
        <p:txBody>
          <a:bodyPr wrap="square" lIns="0" tIns="0" rIns="0" bIns="0" rtlCol="0" anchor="t"/>
          <a:lstStyle/>
          <a:p>
            <a:pPr indent="0" marL="0">
              <a:buNone/>
            </a:pPr>
            <a:r>
              <a:rPr lang="en-US" sz="1700" b="1" dirty="0">
                <a:solidFill>
                  <a:srgbClr val="0F172A"/>
                </a:solidFill>
              </a:rPr>
              <a:t>Bootstrap 5 · jQuery</a:t>
            </a:r>
            <a:endParaRPr lang="en-US" sz="1700" dirty="0"/>
          </a:p>
          <a:p>
            <a:pPr indent="0" marL="0">
              <a:buNone/>
            </a:pPr>
            <a:r>
              <a:rPr lang="en-US" sz="1300" dirty="0">
                <a:solidFill>
                  <a:srgbClr val="64748B"/>
                </a:solidFill>
              </a:rPr>
              <a:t>Responsive · AJAX</a:t>
            </a:r>
            <a:endParaRPr lang="en-US" sz="1700" dirty="0"/>
          </a:p>
        </p:txBody>
      </p:sp>
      <p:sp>
        <p:nvSpPr>
          <p:cNvPr id="23" name="Shape 16"/>
          <p:cNvSpPr/>
          <p:nvPr/>
        </p:nvSpPr>
        <p:spPr>
          <a:xfrm>
            <a:off x="3337560" y="3749040"/>
            <a:ext cx="2560320" cy="1965960"/>
          </a:xfrm>
          <a:prstGeom prst="roundRect">
            <a:avLst>
              <a:gd name="adj" fmla="val 5581"/>
            </a:avLst>
          </a:prstGeom>
          <a:solidFill>
            <a:srgbClr val="EEF3FB"/>
          </a:solidFill>
          <a:ln w="12700">
            <a:solidFill>
              <a:srgbClr val="EEF3FB"/>
            </a:solidFill>
            <a:prstDash val="solid"/>
          </a:ln>
        </p:spPr>
      </p:sp>
      <p:sp>
        <p:nvSpPr>
          <p:cNvPr id="24" name="Shape 17"/>
          <p:cNvSpPr/>
          <p:nvPr/>
        </p:nvSpPr>
        <p:spPr>
          <a:xfrm>
            <a:off x="3611880" y="4023360"/>
            <a:ext cx="566928" cy="566928"/>
          </a:xfrm>
          <a:prstGeom prst="ellipse">
            <a:avLst/>
          </a:prstGeom>
          <a:solidFill>
            <a:srgbClr val="F59E0B"/>
          </a:solidFill>
          <a:ln w="12700">
            <a:solidFill>
              <a:srgbClr val="F59E0B"/>
            </a:solidFill>
            <a:prstDash val="solid"/>
          </a:ln>
        </p:spPr>
      </p:sp>
      <p:pic>
        <p:nvPicPr>
          <p:cNvPr id="25" name="Image 5" descr="preencoded.png">    </p:cNvPr>
          <p:cNvPicPr>
            <a:picLocks noChangeAspect="1"/>
          </p:cNvPicPr>
          <p:nvPr/>
        </p:nvPicPr>
        <p:blipFill>
          <a:blip r:embed="rId6"/>
          <a:stretch>
            <a:fillRect/>
          </a:stretch>
        </p:blipFill>
        <p:spPr>
          <a:xfrm>
            <a:off x="3747943" y="4159423"/>
            <a:ext cx="294803" cy="294803"/>
          </a:xfrm>
          <a:prstGeom prst="rect">
            <a:avLst/>
          </a:prstGeom>
        </p:spPr>
      </p:pic>
      <p:sp>
        <p:nvSpPr>
          <p:cNvPr id="26" name="Text 18"/>
          <p:cNvSpPr txBox="1"/>
          <p:nvPr/>
        </p:nvSpPr>
        <p:spPr>
          <a:xfrm>
            <a:off x="3611880" y="4709160"/>
            <a:ext cx="2103120" cy="868680"/>
          </a:xfrm>
          <a:prstGeom prst="rect">
            <a:avLst/>
          </a:prstGeom>
          <a:noFill/>
          <a:ln/>
        </p:spPr>
        <p:txBody>
          <a:bodyPr wrap="square" lIns="0" tIns="0" rIns="0" bIns="0" rtlCol="0" anchor="t"/>
          <a:lstStyle/>
          <a:p>
            <a:pPr indent="0" marL="0">
              <a:buNone/>
            </a:pPr>
            <a:r>
              <a:rPr lang="en-US" sz="1700" b="1" dirty="0">
                <a:solidFill>
                  <a:srgbClr val="0F172A"/>
                </a:solidFill>
              </a:rPr>
              <a:t>Chart.js</a:t>
            </a:r>
            <a:endParaRPr lang="en-US" sz="1700" dirty="0"/>
          </a:p>
          <a:p>
            <a:pPr indent="0" marL="0">
              <a:buNone/>
            </a:pPr>
            <a:r>
              <a:rPr lang="en-US" sz="1300" dirty="0">
                <a:solidFill>
                  <a:srgbClr val="64748B"/>
                </a:solidFill>
              </a:rPr>
              <a:t>Biểu đồ thống kê quản trị</a:t>
            </a:r>
            <a:endParaRPr lang="en-US" sz="1700" dirty="0"/>
          </a:p>
        </p:txBody>
      </p:sp>
      <p:sp>
        <p:nvSpPr>
          <p:cNvPr id="27" name="Shape 19"/>
          <p:cNvSpPr/>
          <p:nvPr/>
        </p:nvSpPr>
        <p:spPr>
          <a:xfrm>
            <a:off x="6126480" y="3749040"/>
            <a:ext cx="2560320" cy="1965960"/>
          </a:xfrm>
          <a:prstGeom prst="roundRect">
            <a:avLst>
              <a:gd name="adj" fmla="val 5581"/>
            </a:avLst>
          </a:prstGeom>
          <a:solidFill>
            <a:srgbClr val="EEF3FB"/>
          </a:solidFill>
          <a:ln w="12700">
            <a:solidFill>
              <a:srgbClr val="EEF3FB"/>
            </a:solidFill>
            <a:prstDash val="solid"/>
          </a:ln>
        </p:spPr>
      </p:sp>
      <p:sp>
        <p:nvSpPr>
          <p:cNvPr id="28" name="Shape 20"/>
          <p:cNvSpPr/>
          <p:nvPr/>
        </p:nvSpPr>
        <p:spPr>
          <a:xfrm>
            <a:off x="6400800" y="4023360"/>
            <a:ext cx="566928" cy="566928"/>
          </a:xfrm>
          <a:prstGeom prst="ellipse">
            <a:avLst/>
          </a:prstGeom>
          <a:solidFill>
            <a:srgbClr val="F59E0B"/>
          </a:solidFill>
          <a:ln w="12700">
            <a:solidFill>
              <a:srgbClr val="F59E0B"/>
            </a:solidFill>
            <a:prstDash val="solid"/>
          </a:ln>
        </p:spPr>
      </p:sp>
      <p:pic>
        <p:nvPicPr>
          <p:cNvPr id="29" name="Image 6" descr="preencoded.png">    </p:cNvPr>
          <p:cNvPicPr>
            <a:picLocks noChangeAspect="1"/>
          </p:cNvPicPr>
          <p:nvPr/>
        </p:nvPicPr>
        <p:blipFill>
          <a:blip r:embed="rId7"/>
          <a:stretch>
            <a:fillRect/>
          </a:stretch>
        </p:blipFill>
        <p:spPr>
          <a:xfrm>
            <a:off x="6536863" y="4159423"/>
            <a:ext cx="294803" cy="294803"/>
          </a:xfrm>
          <a:prstGeom prst="rect">
            <a:avLst/>
          </a:prstGeom>
        </p:spPr>
      </p:pic>
      <p:sp>
        <p:nvSpPr>
          <p:cNvPr id="30" name="Text 21"/>
          <p:cNvSpPr txBox="1"/>
          <p:nvPr/>
        </p:nvSpPr>
        <p:spPr>
          <a:xfrm>
            <a:off x="6400800" y="4709160"/>
            <a:ext cx="2103120" cy="868680"/>
          </a:xfrm>
          <a:prstGeom prst="rect">
            <a:avLst/>
          </a:prstGeom>
          <a:noFill/>
          <a:ln/>
        </p:spPr>
        <p:txBody>
          <a:bodyPr wrap="square" lIns="0" tIns="0" rIns="0" bIns="0" rtlCol="0" anchor="t"/>
          <a:lstStyle/>
          <a:p>
            <a:pPr indent="0" marL="0">
              <a:buNone/>
            </a:pPr>
            <a:r>
              <a:rPr lang="en-US" sz="1700" b="1" dirty="0">
                <a:solidFill>
                  <a:srgbClr val="0F172A"/>
                </a:solidFill>
              </a:rPr>
              <a:t>Quill</a:t>
            </a:r>
            <a:endParaRPr lang="en-US" sz="1700" dirty="0"/>
          </a:p>
          <a:p>
            <a:pPr indent="0" marL="0">
              <a:buNone/>
            </a:pPr>
            <a:r>
              <a:rPr lang="en-US" sz="1300" dirty="0">
                <a:solidFill>
                  <a:srgbClr val="64748B"/>
                </a:solidFill>
              </a:rPr>
              <a:t>Soạn thảo nội dung dự án</a:t>
            </a:r>
            <a:endParaRPr lang="en-US" sz="1700" dirty="0"/>
          </a:p>
        </p:txBody>
      </p:sp>
      <p:sp>
        <p:nvSpPr>
          <p:cNvPr id="31" name="Shape 22"/>
          <p:cNvSpPr/>
          <p:nvPr/>
        </p:nvSpPr>
        <p:spPr>
          <a:xfrm>
            <a:off x="8915400" y="3749040"/>
            <a:ext cx="2560320" cy="1965960"/>
          </a:xfrm>
          <a:prstGeom prst="roundRect">
            <a:avLst>
              <a:gd name="adj" fmla="val 5581"/>
            </a:avLst>
          </a:prstGeom>
          <a:solidFill>
            <a:srgbClr val="EEF3FB"/>
          </a:solidFill>
          <a:ln w="12700">
            <a:solidFill>
              <a:srgbClr val="EEF3FB"/>
            </a:solidFill>
            <a:prstDash val="solid"/>
          </a:ln>
        </p:spPr>
      </p:sp>
      <p:sp>
        <p:nvSpPr>
          <p:cNvPr id="32" name="Shape 23"/>
          <p:cNvSpPr/>
          <p:nvPr/>
        </p:nvSpPr>
        <p:spPr>
          <a:xfrm>
            <a:off x="9189720" y="4023360"/>
            <a:ext cx="566928" cy="566928"/>
          </a:xfrm>
          <a:prstGeom prst="ellipse">
            <a:avLst/>
          </a:prstGeom>
          <a:solidFill>
            <a:srgbClr val="F59E0B"/>
          </a:solidFill>
          <a:ln w="12700">
            <a:solidFill>
              <a:srgbClr val="F59E0B"/>
            </a:solidFill>
            <a:prstDash val="solid"/>
          </a:ln>
        </p:spPr>
      </p:sp>
      <p:pic>
        <p:nvPicPr>
          <p:cNvPr id="33" name="Image 7" descr="preencoded.png">    </p:cNvPr>
          <p:cNvPicPr>
            <a:picLocks noChangeAspect="1"/>
          </p:cNvPicPr>
          <p:nvPr/>
        </p:nvPicPr>
        <p:blipFill>
          <a:blip r:embed="rId8"/>
          <a:stretch>
            <a:fillRect/>
          </a:stretch>
        </p:blipFill>
        <p:spPr>
          <a:xfrm>
            <a:off x="9325783" y="4159423"/>
            <a:ext cx="294803" cy="294803"/>
          </a:xfrm>
          <a:prstGeom prst="rect">
            <a:avLst/>
          </a:prstGeom>
        </p:spPr>
      </p:pic>
      <p:sp>
        <p:nvSpPr>
          <p:cNvPr id="34" name="Text 24"/>
          <p:cNvSpPr txBox="1"/>
          <p:nvPr/>
        </p:nvSpPr>
        <p:spPr>
          <a:xfrm>
            <a:off x="9189720" y="4709160"/>
            <a:ext cx="2103120" cy="868680"/>
          </a:xfrm>
          <a:prstGeom prst="rect">
            <a:avLst/>
          </a:prstGeom>
          <a:noFill/>
          <a:ln/>
        </p:spPr>
        <p:txBody>
          <a:bodyPr wrap="square" lIns="0" tIns="0" rIns="0" bIns="0" rtlCol="0" anchor="t"/>
          <a:lstStyle/>
          <a:p>
            <a:pPr indent="0" marL="0">
              <a:buNone/>
            </a:pPr>
            <a:r>
              <a:rPr lang="en-US" sz="1700" b="1" dirty="0">
                <a:solidFill>
                  <a:srgbClr val="0F172A"/>
                </a:solidFill>
              </a:rPr>
              <a:t>HtmlSanitizer</a:t>
            </a:r>
            <a:endParaRPr lang="en-US" sz="1700" dirty="0"/>
          </a:p>
          <a:p>
            <a:pPr indent="0" marL="0">
              <a:buNone/>
            </a:pPr>
            <a:r>
              <a:rPr lang="en-US" sz="1300" dirty="0">
                <a:solidFill>
                  <a:srgbClr val="64748B"/>
                </a:solidFill>
              </a:rPr>
              <a:t>Lọc HTML chống XSS</a:t>
            </a:r>
            <a:endParaRPr lang="en-US" sz="17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Kiến trúc hệ thống theo mô hình MVC</a:t>
            </a:r>
            <a:endParaRPr lang="en-US" sz="3200" dirty="0"/>
          </a:p>
        </p:txBody>
      </p:sp>
      <p:pic>
        <p:nvPicPr>
          <p:cNvPr id="3" name="Image 0" descr="D:/Desktop/TVU - BT/DA THI/ASP.NET/BAO CAO/PHẠM TUẤN ANH - MSSV 170122372 - ASP.NET/PkuongProject/docs/diagrams/09_kien_truc_mvc.png">    </p:cNvPr>
          <p:cNvPicPr>
            <a:picLocks noChangeAspect="1"/>
          </p:cNvPicPr>
          <p:nvPr/>
        </p:nvPicPr>
        <p:blipFill>
          <a:blip r:embed="rId1"/>
          <a:stretch>
            <a:fillRect/>
          </a:stretch>
        </p:blipFill>
        <p:spPr>
          <a:xfrm>
            <a:off x="794373" y="1280160"/>
            <a:ext cx="6275095" cy="4983480"/>
          </a:xfrm>
          <a:prstGeom prst="rect">
            <a:avLst/>
          </a:prstGeom>
        </p:spPr>
      </p:pic>
      <p:sp>
        <p:nvSpPr>
          <p:cNvPr id="4" name="Text 1"/>
          <p:cNvSpPr txBox="1"/>
          <p:nvPr/>
        </p:nvSpPr>
        <p:spPr>
          <a:xfrm>
            <a:off x="7680960" y="1417320"/>
            <a:ext cx="3931920" cy="365760"/>
          </a:xfrm>
          <a:prstGeom prst="rect">
            <a:avLst/>
          </a:prstGeom>
          <a:noFill/>
          <a:ln/>
        </p:spPr>
        <p:txBody>
          <a:bodyPr wrap="square" lIns="0" tIns="0" rIns="0" bIns="0" rtlCol="0" anchor="ctr"/>
          <a:lstStyle/>
          <a:p>
            <a:pPr indent="0" marL="0">
              <a:buNone/>
            </a:pPr>
            <a:r>
              <a:rPr lang="en-US" sz="1700" b="1" dirty="0">
                <a:solidFill>
                  <a:srgbClr val="0B3D91"/>
                </a:solidFill>
              </a:rPr>
              <a:t>Middleware</a:t>
            </a:r>
            <a:endParaRPr lang="en-US" sz="1700" dirty="0"/>
          </a:p>
        </p:txBody>
      </p:sp>
      <p:sp>
        <p:nvSpPr>
          <p:cNvPr id="5" name="Text 2"/>
          <p:cNvSpPr txBox="1"/>
          <p:nvPr/>
        </p:nvSpPr>
        <p:spPr>
          <a:xfrm>
            <a:off x="7680960" y="1783080"/>
            <a:ext cx="3931920" cy="685800"/>
          </a:xfrm>
          <a:prstGeom prst="rect">
            <a:avLst/>
          </a:prstGeom>
          <a:noFill/>
          <a:ln/>
        </p:spPr>
        <p:txBody>
          <a:bodyPr wrap="square" lIns="0" tIns="0" rIns="0" bIns="0" rtlCol="0" anchor="t"/>
          <a:lstStyle/>
          <a:p>
            <a:pPr indent="0" marL="0">
              <a:buNone/>
            </a:pPr>
            <a:r>
              <a:rPr lang="en-US" sz="1400" dirty="0">
                <a:solidFill>
                  <a:srgbClr val="334155"/>
                </a:solidFill>
              </a:rPr>
              <a:t>Định tuyến, xác thực, phân quyền trước khi vào controller</a:t>
            </a:r>
            <a:endParaRPr lang="en-US" sz="1400" dirty="0"/>
          </a:p>
        </p:txBody>
      </p:sp>
      <p:sp>
        <p:nvSpPr>
          <p:cNvPr id="6" name="Text 3"/>
          <p:cNvSpPr txBox="1"/>
          <p:nvPr/>
        </p:nvSpPr>
        <p:spPr>
          <a:xfrm>
            <a:off x="7680960" y="2606040"/>
            <a:ext cx="3931920" cy="365760"/>
          </a:xfrm>
          <a:prstGeom prst="rect">
            <a:avLst/>
          </a:prstGeom>
          <a:noFill/>
          <a:ln/>
        </p:spPr>
        <p:txBody>
          <a:bodyPr wrap="square" lIns="0" tIns="0" rIns="0" bIns="0" rtlCol="0" anchor="ctr"/>
          <a:lstStyle/>
          <a:p>
            <a:pPr indent="0" marL="0">
              <a:buNone/>
            </a:pPr>
            <a:r>
              <a:rPr lang="en-US" sz="1700" b="1" dirty="0">
                <a:solidFill>
                  <a:srgbClr val="0B3D91"/>
                </a:solidFill>
              </a:rPr>
              <a:t>Controller</a:t>
            </a:r>
            <a:endParaRPr lang="en-US" sz="1700" dirty="0"/>
          </a:p>
        </p:txBody>
      </p:sp>
      <p:sp>
        <p:nvSpPr>
          <p:cNvPr id="7" name="Text 4"/>
          <p:cNvSpPr txBox="1"/>
          <p:nvPr/>
        </p:nvSpPr>
        <p:spPr>
          <a:xfrm>
            <a:off x="7680960" y="2971800"/>
            <a:ext cx="3931920" cy="685800"/>
          </a:xfrm>
          <a:prstGeom prst="rect">
            <a:avLst/>
          </a:prstGeom>
          <a:noFill/>
          <a:ln/>
        </p:spPr>
        <p:txBody>
          <a:bodyPr wrap="square" lIns="0" tIns="0" rIns="0" bIns="0" rtlCol="0" anchor="t"/>
          <a:lstStyle/>
          <a:p>
            <a:pPr indent="0" marL="0">
              <a:buNone/>
            </a:pPr>
            <a:r>
              <a:rPr lang="en-US" sz="1400" dirty="0">
                <a:solidFill>
                  <a:srgbClr val="334155"/>
                </a:solidFill>
              </a:rPr>
              <a:t>Khu người dùng và Area Admin tách riêng</a:t>
            </a:r>
            <a:endParaRPr lang="en-US" sz="1400" dirty="0"/>
          </a:p>
        </p:txBody>
      </p:sp>
      <p:sp>
        <p:nvSpPr>
          <p:cNvPr id="8" name="Text 5"/>
          <p:cNvSpPr txBox="1"/>
          <p:nvPr/>
        </p:nvSpPr>
        <p:spPr>
          <a:xfrm>
            <a:off x="7680960" y="3794760"/>
            <a:ext cx="3931920" cy="365760"/>
          </a:xfrm>
          <a:prstGeom prst="rect">
            <a:avLst/>
          </a:prstGeom>
          <a:noFill/>
          <a:ln/>
        </p:spPr>
        <p:txBody>
          <a:bodyPr wrap="square" lIns="0" tIns="0" rIns="0" bIns="0" rtlCol="0" anchor="ctr"/>
          <a:lstStyle/>
          <a:p>
            <a:pPr indent="0" marL="0">
              <a:buNone/>
            </a:pPr>
            <a:r>
              <a:rPr lang="en-US" sz="1700" b="1" dirty="0">
                <a:solidFill>
                  <a:srgbClr val="0B3D91"/>
                </a:solidFill>
              </a:rPr>
              <a:t>Service (DI)</a:t>
            </a:r>
            <a:endParaRPr lang="en-US" sz="1700" dirty="0"/>
          </a:p>
        </p:txBody>
      </p:sp>
      <p:sp>
        <p:nvSpPr>
          <p:cNvPr id="9" name="Text 6"/>
          <p:cNvSpPr txBox="1"/>
          <p:nvPr/>
        </p:nvSpPr>
        <p:spPr>
          <a:xfrm>
            <a:off x="7680960" y="4160520"/>
            <a:ext cx="3931920" cy="685800"/>
          </a:xfrm>
          <a:prstGeom prst="rect">
            <a:avLst/>
          </a:prstGeom>
          <a:noFill/>
          <a:ln/>
        </p:spPr>
        <p:txBody>
          <a:bodyPr wrap="square" lIns="0" tIns="0" rIns="0" bIns="0" rtlCol="0" anchor="t"/>
          <a:lstStyle/>
          <a:p>
            <a:pPr indent="0" marL="0">
              <a:buNone/>
            </a:pPr>
            <a:r>
              <a:rPr lang="en-US" sz="1400" dirty="0">
                <a:solidFill>
                  <a:srgbClr val="334155"/>
                </a:solidFill>
              </a:rPr>
              <a:t>Băm mật khẩu, lưu ảnh, lọc HTML, quy tắc trạng thái</a:t>
            </a:r>
            <a:endParaRPr lang="en-US" sz="1400" dirty="0"/>
          </a:p>
        </p:txBody>
      </p:sp>
      <p:sp>
        <p:nvSpPr>
          <p:cNvPr id="10" name="Text 7"/>
          <p:cNvSpPr txBox="1"/>
          <p:nvPr/>
        </p:nvSpPr>
        <p:spPr>
          <a:xfrm>
            <a:off x="7680960" y="4983480"/>
            <a:ext cx="3931920" cy="365760"/>
          </a:xfrm>
          <a:prstGeom prst="rect">
            <a:avLst/>
          </a:prstGeom>
          <a:noFill/>
          <a:ln/>
        </p:spPr>
        <p:txBody>
          <a:bodyPr wrap="square" lIns="0" tIns="0" rIns="0" bIns="0" rtlCol="0" anchor="ctr"/>
          <a:lstStyle/>
          <a:p>
            <a:pPr indent="0" marL="0">
              <a:buNone/>
            </a:pPr>
            <a:r>
              <a:rPr lang="en-US" sz="1700" b="1" dirty="0">
                <a:solidFill>
                  <a:srgbClr val="0B3D91"/>
                </a:solidFill>
              </a:rPr>
              <a:t>Data</a:t>
            </a:r>
            <a:endParaRPr lang="en-US" sz="1700" dirty="0"/>
          </a:p>
        </p:txBody>
      </p:sp>
      <p:sp>
        <p:nvSpPr>
          <p:cNvPr id="11" name="Text 8"/>
          <p:cNvSpPr txBox="1"/>
          <p:nvPr/>
        </p:nvSpPr>
        <p:spPr>
          <a:xfrm>
            <a:off x="7680960" y="5349240"/>
            <a:ext cx="3931920" cy="685800"/>
          </a:xfrm>
          <a:prstGeom prst="rect">
            <a:avLst/>
          </a:prstGeom>
          <a:noFill/>
          <a:ln/>
        </p:spPr>
        <p:txBody>
          <a:bodyPr wrap="square" lIns="0" tIns="0" rIns="0" bIns="0" rtlCol="0" anchor="t"/>
          <a:lstStyle/>
          <a:p>
            <a:pPr indent="0" marL="0">
              <a:buNone/>
            </a:pPr>
            <a:r>
              <a:rPr lang="en-US" sz="1400" dirty="0">
                <a:solidFill>
                  <a:srgbClr val="334155"/>
                </a:solidFill>
              </a:rPr>
              <a:t>AppDbContext (EF Core) truy cập SQL Server, tham số hóa truy vấn</a:t>
            </a:r>
            <a:endParaRPr lang="en-US" sz="14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Sơ đồ use case tổng quát</a:t>
            </a:r>
            <a:endParaRPr lang="en-US" sz="3200" dirty="0"/>
          </a:p>
        </p:txBody>
      </p:sp>
      <p:pic>
        <p:nvPicPr>
          <p:cNvPr id="3" name="Image 0" descr="D:/Desktop/TVU - BT/DA THI/ASP.NET/BAO CAO/PHẠM TUẤN ANH - MSSV 170122372 - ASP.NET/PkuongProject/docs/diagrams/01_use_case_tong_quat.png">    </p:cNvPr>
          <p:cNvPicPr>
            <a:picLocks noChangeAspect="1"/>
          </p:cNvPicPr>
          <p:nvPr/>
        </p:nvPicPr>
        <p:blipFill>
          <a:blip r:embed="rId1"/>
          <a:stretch>
            <a:fillRect/>
          </a:stretch>
        </p:blipFill>
        <p:spPr>
          <a:xfrm>
            <a:off x="1127459" y="1234440"/>
            <a:ext cx="6249002" cy="5074920"/>
          </a:xfrm>
          <a:prstGeom prst="rect">
            <a:avLst/>
          </a:prstGeom>
        </p:spPr>
      </p:pic>
      <p:sp>
        <p:nvSpPr>
          <p:cNvPr id="4" name="Shape 1"/>
          <p:cNvSpPr/>
          <p:nvPr/>
        </p:nvSpPr>
        <p:spPr>
          <a:xfrm>
            <a:off x="8321040" y="1463040"/>
            <a:ext cx="566928" cy="566928"/>
          </a:xfrm>
          <a:prstGeom prst="ellipse">
            <a:avLst/>
          </a:prstGeom>
          <a:solidFill>
            <a:srgbClr val="0B3D91"/>
          </a:solidFill>
          <a:ln w="12700">
            <a:solidFill>
              <a:srgbClr val="0B3D91"/>
            </a:solidFill>
            <a:prstDash val="solid"/>
          </a:ln>
        </p:spPr>
      </p:sp>
      <p:pic>
        <p:nvPicPr>
          <p:cNvPr id="5" name="Image 1" descr="preencoded.png">    </p:cNvPr>
          <p:cNvPicPr>
            <a:picLocks noChangeAspect="1"/>
          </p:cNvPicPr>
          <p:nvPr/>
        </p:nvPicPr>
        <p:blipFill>
          <a:blip r:embed="rId2"/>
          <a:stretch>
            <a:fillRect/>
          </a:stretch>
        </p:blipFill>
        <p:spPr>
          <a:xfrm>
            <a:off x="8457103" y="1599103"/>
            <a:ext cx="294803" cy="294803"/>
          </a:xfrm>
          <a:prstGeom prst="rect">
            <a:avLst/>
          </a:prstGeom>
        </p:spPr>
      </p:pic>
      <p:sp>
        <p:nvSpPr>
          <p:cNvPr id="6" name="Text 2"/>
          <p:cNvSpPr txBox="1"/>
          <p:nvPr/>
        </p:nvSpPr>
        <p:spPr>
          <a:xfrm>
            <a:off x="9052560" y="1417320"/>
            <a:ext cx="2651760" cy="1371600"/>
          </a:xfrm>
          <a:prstGeom prst="rect">
            <a:avLst/>
          </a:prstGeom>
          <a:noFill/>
          <a:ln/>
        </p:spPr>
        <p:txBody>
          <a:bodyPr wrap="square" lIns="0" tIns="0" rIns="0" bIns="0" rtlCol="0" anchor="t"/>
          <a:lstStyle/>
          <a:p>
            <a:pPr indent="0" marL="0">
              <a:buNone/>
            </a:pPr>
            <a:r>
              <a:rPr lang="en-US" sz="1700" b="1" dirty="0">
                <a:solidFill>
                  <a:srgbClr val="0F172A"/>
                </a:solidFill>
              </a:rPr>
              <a:t>Khách</a:t>
            </a:r>
            <a:endParaRPr lang="en-US" sz="1700" dirty="0"/>
          </a:p>
          <a:p>
            <a:pPr indent="0" marL="0">
              <a:buNone/>
            </a:pPr>
            <a:r>
              <a:rPr lang="en-US" sz="1400" dirty="0">
                <a:solidFill>
                  <a:srgbClr val="334155"/>
                </a:solidFill>
              </a:rPr>
              <a:t>Tìm kiếm, xem dự án, tin tức; gửi liên hệ hợp tác; đăng ký</a:t>
            </a:r>
            <a:endParaRPr lang="en-US" sz="1700" dirty="0"/>
          </a:p>
        </p:txBody>
      </p:sp>
      <p:sp>
        <p:nvSpPr>
          <p:cNvPr id="7" name="Shape 3"/>
          <p:cNvSpPr/>
          <p:nvPr/>
        </p:nvSpPr>
        <p:spPr>
          <a:xfrm>
            <a:off x="8321040" y="3063240"/>
            <a:ext cx="566928" cy="566928"/>
          </a:xfrm>
          <a:prstGeom prst="ellipse">
            <a:avLst/>
          </a:prstGeom>
          <a:solidFill>
            <a:srgbClr val="0B3D91"/>
          </a:solidFill>
          <a:ln w="12700">
            <a:solidFill>
              <a:srgbClr val="0B3D91"/>
            </a:solidFill>
            <a:prstDash val="solid"/>
          </a:ln>
        </p:spPr>
      </p:sp>
      <p:pic>
        <p:nvPicPr>
          <p:cNvPr id="8" name="Image 2" descr="preencoded.png">    </p:cNvPr>
          <p:cNvPicPr>
            <a:picLocks noChangeAspect="1"/>
          </p:cNvPicPr>
          <p:nvPr/>
        </p:nvPicPr>
        <p:blipFill>
          <a:blip r:embed="rId3"/>
          <a:stretch>
            <a:fillRect/>
          </a:stretch>
        </p:blipFill>
        <p:spPr>
          <a:xfrm>
            <a:off x="8457103" y="3199303"/>
            <a:ext cx="294803" cy="294803"/>
          </a:xfrm>
          <a:prstGeom prst="rect">
            <a:avLst/>
          </a:prstGeom>
        </p:spPr>
      </p:pic>
      <p:sp>
        <p:nvSpPr>
          <p:cNvPr id="9" name="Text 4"/>
          <p:cNvSpPr txBox="1"/>
          <p:nvPr/>
        </p:nvSpPr>
        <p:spPr>
          <a:xfrm>
            <a:off x="9052560" y="3017520"/>
            <a:ext cx="2651760" cy="1371600"/>
          </a:xfrm>
          <a:prstGeom prst="rect">
            <a:avLst/>
          </a:prstGeom>
          <a:noFill/>
          <a:ln/>
        </p:spPr>
        <p:txBody>
          <a:bodyPr wrap="square" lIns="0" tIns="0" rIns="0" bIns="0" rtlCol="0" anchor="t"/>
          <a:lstStyle/>
          <a:p>
            <a:pPr indent="0" marL="0">
              <a:buNone/>
            </a:pPr>
            <a:r>
              <a:rPr lang="en-US" sz="1700" b="1" dirty="0">
                <a:solidFill>
                  <a:srgbClr val="0F172A"/>
                </a:solidFill>
              </a:rPr>
              <a:t>Sinh viên</a:t>
            </a:r>
            <a:endParaRPr lang="en-US" sz="1700" dirty="0"/>
          </a:p>
          <a:p>
            <a:pPr indent="0" marL="0">
              <a:buNone/>
            </a:pPr>
            <a:r>
              <a:rPr lang="en-US" sz="1400" dirty="0">
                <a:solidFill>
                  <a:srgbClr val="334155"/>
                </a:solidFill>
              </a:rPr>
              <a:t>Đăng, quản lý dự án; gửi duyệt; bình luận, đánh giá, bình chọn</a:t>
            </a:r>
            <a:endParaRPr lang="en-US" sz="1700" dirty="0"/>
          </a:p>
        </p:txBody>
      </p:sp>
      <p:sp>
        <p:nvSpPr>
          <p:cNvPr id="10" name="Shape 5"/>
          <p:cNvSpPr/>
          <p:nvPr/>
        </p:nvSpPr>
        <p:spPr>
          <a:xfrm>
            <a:off x="8321040" y="4663440"/>
            <a:ext cx="566928" cy="566928"/>
          </a:xfrm>
          <a:prstGeom prst="ellipse">
            <a:avLst/>
          </a:prstGeom>
          <a:solidFill>
            <a:srgbClr val="F59E0B"/>
          </a:solidFill>
          <a:ln w="12700">
            <a:solidFill>
              <a:srgbClr val="F59E0B"/>
            </a:solidFill>
            <a:prstDash val="solid"/>
          </a:ln>
        </p:spPr>
      </p:sp>
      <p:pic>
        <p:nvPicPr>
          <p:cNvPr id="11" name="Image 3" descr="preencoded.png">    </p:cNvPr>
          <p:cNvPicPr>
            <a:picLocks noChangeAspect="1"/>
          </p:cNvPicPr>
          <p:nvPr/>
        </p:nvPicPr>
        <p:blipFill>
          <a:blip r:embed="rId4"/>
          <a:stretch>
            <a:fillRect/>
          </a:stretch>
        </p:blipFill>
        <p:spPr>
          <a:xfrm>
            <a:off x="8457103" y="4799503"/>
            <a:ext cx="294803" cy="294803"/>
          </a:xfrm>
          <a:prstGeom prst="rect">
            <a:avLst/>
          </a:prstGeom>
        </p:spPr>
      </p:pic>
      <p:sp>
        <p:nvSpPr>
          <p:cNvPr id="12" name="Text 6"/>
          <p:cNvSpPr txBox="1"/>
          <p:nvPr/>
        </p:nvSpPr>
        <p:spPr>
          <a:xfrm>
            <a:off x="9052560" y="4617720"/>
            <a:ext cx="2651760" cy="1371600"/>
          </a:xfrm>
          <a:prstGeom prst="rect">
            <a:avLst/>
          </a:prstGeom>
          <a:noFill/>
          <a:ln/>
        </p:spPr>
        <p:txBody>
          <a:bodyPr wrap="square" lIns="0" tIns="0" rIns="0" bIns="0" rtlCol="0" anchor="t"/>
          <a:lstStyle/>
          <a:p>
            <a:pPr indent="0" marL="0">
              <a:buNone/>
            </a:pPr>
            <a:r>
              <a:rPr lang="en-US" sz="1700" b="1" dirty="0">
                <a:solidFill>
                  <a:srgbClr val="0F172A"/>
                </a:solidFill>
              </a:rPr>
              <a:t>Quản trị viên</a:t>
            </a:r>
            <a:endParaRPr lang="en-US" sz="1700" dirty="0"/>
          </a:p>
          <a:p>
            <a:pPr indent="0" marL="0">
              <a:buNone/>
            </a:pPr>
            <a:r>
              <a:rPr lang="en-US" sz="1400" dirty="0">
                <a:solidFill>
                  <a:srgbClr val="334155"/>
                </a:solidFill>
              </a:rPr>
              <a:t>Duyệt dự án, quản lý danh mục, tài khoản, nội dung; thống kê</a:t>
            </a:r>
            <a:endParaRPr lang="en-US" sz="17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Thiết kế cơ sở dữ liệu</a:t>
            </a:r>
            <a:endParaRPr lang="en-US" sz="3200" dirty="0"/>
          </a:p>
        </p:txBody>
      </p:sp>
      <p:pic>
        <p:nvPicPr>
          <p:cNvPr id="3" name="Image 0" descr="D:/Desktop/TVU - BT/DA THI/ASP.NET/BAO CAO/PHẠM TUẤN ANH - MSSV 170122372 - ASP.NET/PkuongProject/docs/diagrams/02_erd.png">    </p:cNvPr>
          <p:cNvPicPr>
            <a:picLocks noChangeAspect="1"/>
          </p:cNvPicPr>
          <p:nvPr/>
        </p:nvPicPr>
        <p:blipFill>
          <a:blip r:embed="rId1"/>
          <a:stretch>
            <a:fillRect/>
          </a:stretch>
        </p:blipFill>
        <p:spPr>
          <a:xfrm>
            <a:off x="1011406" y="1188720"/>
            <a:ext cx="6115347" cy="5120640"/>
          </a:xfrm>
          <a:prstGeom prst="rect">
            <a:avLst/>
          </a:prstGeom>
        </p:spPr>
      </p:pic>
      <p:sp>
        <p:nvSpPr>
          <p:cNvPr id="4" name="Shape 1"/>
          <p:cNvSpPr/>
          <p:nvPr/>
        </p:nvSpPr>
        <p:spPr>
          <a:xfrm>
            <a:off x="8001000" y="1371600"/>
            <a:ext cx="3657600" cy="1051560"/>
          </a:xfrm>
          <a:prstGeom prst="roundRect">
            <a:avLst>
              <a:gd name="adj" fmla="val 10435"/>
            </a:avLst>
          </a:prstGeom>
          <a:solidFill>
            <a:srgbClr val="EEF3FB"/>
          </a:solidFill>
          <a:ln w="12700">
            <a:solidFill>
              <a:srgbClr val="EEF3FB"/>
            </a:solidFill>
            <a:prstDash val="solid"/>
          </a:ln>
        </p:spPr>
      </p:sp>
      <p:sp>
        <p:nvSpPr>
          <p:cNvPr id="5" name="Text 2"/>
          <p:cNvSpPr txBox="1"/>
          <p:nvPr/>
        </p:nvSpPr>
        <p:spPr>
          <a:xfrm>
            <a:off x="8183880" y="1463040"/>
            <a:ext cx="3337560" cy="868680"/>
          </a:xfrm>
          <a:prstGeom prst="rect">
            <a:avLst/>
          </a:prstGeom>
          <a:noFill/>
          <a:ln/>
        </p:spPr>
        <p:txBody>
          <a:bodyPr wrap="square" lIns="0" tIns="0" rIns="0" bIns="0" rtlCol="0" anchor="ctr"/>
          <a:lstStyle/>
          <a:p>
            <a:pPr indent="0" marL="0">
              <a:buNone/>
            </a:pPr>
            <a:r>
              <a:rPr lang="en-US" sz="1600" b="1" dirty="0">
                <a:solidFill>
                  <a:srgbClr val="0B3D91"/>
                </a:solidFill>
              </a:rPr>
              <a:t>14 bảng</a:t>
            </a:r>
            <a:endParaRPr lang="en-US" sz="1600" dirty="0"/>
          </a:p>
          <a:p>
            <a:pPr indent="0" marL="0">
              <a:buNone/>
            </a:pPr>
            <a:r>
              <a:rPr lang="en-US" sz="1300" dirty="0">
                <a:solidFill>
                  <a:srgbClr val="334155"/>
                </a:solidFill>
              </a:rPr>
              <a:t>Code First với EF Core, Fluent API, migration</a:t>
            </a:r>
            <a:endParaRPr lang="en-US" sz="1600" dirty="0"/>
          </a:p>
        </p:txBody>
      </p:sp>
      <p:sp>
        <p:nvSpPr>
          <p:cNvPr id="6" name="Shape 3"/>
          <p:cNvSpPr/>
          <p:nvPr/>
        </p:nvSpPr>
        <p:spPr>
          <a:xfrm>
            <a:off x="8001000" y="2587752"/>
            <a:ext cx="3657600" cy="1051560"/>
          </a:xfrm>
          <a:prstGeom prst="roundRect">
            <a:avLst>
              <a:gd name="adj" fmla="val 10435"/>
            </a:avLst>
          </a:prstGeom>
          <a:solidFill>
            <a:srgbClr val="EEF3FB"/>
          </a:solidFill>
          <a:ln w="12700">
            <a:solidFill>
              <a:srgbClr val="EEF3FB"/>
            </a:solidFill>
            <a:prstDash val="solid"/>
          </a:ln>
        </p:spPr>
      </p:sp>
      <p:sp>
        <p:nvSpPr>
          <p:cNvPr id="7" name="Text 4"/>
          <p:cNvSpPr txBox="1"/>
          <p:nvPr/>
        </p:nvSpPr>
        <p:spPr>
          <a:xfrm>
            <a:off x="8183880" y="2679192"/>
            <a:ext cx="3337560" cy="868680"/>
          </a:xfrm>
          <a:prstGeom prst="rect">
            <a:avLst/>
          </a:prstGeom>
          <a:noFill/>
          <a:ln/>
        </p:spPr>
        <p:txBody>
          <a:bodyPr wrap="square" lIns="0" tIns="0" rIns="0" bIns="0" rtlCol="0" anchor="ctr"/>
          <a:lstStyle/>
          <a:p>
            <a:pPr indent="0" marL="0">
              <a:buNone/>
            </a:pPr>
            <a:r>
              <a:rPr lang="en-US" sz="1600" b="1" dirty="0">
                <a:solidFill>
                  <a:srgbClr val="0B3D91"/>
                </a:solidFill>
              </a:rPr>
              <a:t>Project là trung tâm</a:t>
            </a:r>
            <a:endParaRPr lang="en-US" sz="1600" dirty="0"/>
          </a:p>
          <a:p>
            <a:pPr indent="0" marL="0">
              <a:buNone/>
            </a:pPr>
            <a:r>
              <a:rPr lang="en-US" sz="1300" dirty="0">
                <a:solidFill>
                  <a:srgbClr val="334155"/>
                </a:solidFill>
              </a:rPr>
              <a:t>Liên kết lĩnh vực, khoa, chủ dự án và 7 bảng con</a:t>
            </a:r>
            <a:endParaRPr lang="en-US" sz="1600" dirty="0"/>
          </a:p>
        </p:txBody>
      </p:sp>
      <p:sp>
        <p:nvSpPr>
          <p:cNvPr id="8" name="Shape 5"/>
          <p:cNvSpPr/>
          <p:nvPr/>
        </p:nvSpPr>
        <p:spPr>
          <a:xfrm>
            <a:off x="8001000" y="3803904"/>
            <a:ext cx="3657600" cy="1051560"/>
          </a:xfrm>
          <a:prstGeom prst="roundRect">
            <a:avLst>
              <a:gd name="adj" fmla="val 10435"/>
            </a:avLst>
          </a:prstGeom>
          <a:solidFill>
            <a:srgbClr val="EEF3FB"/>
          </a:solidFill>
          <a:ln w="12700">
            <a:solidFill>
              <a:srgbClr val="EEF3FB"/>
            </a:solidFill>
            <a:prstDash val="solid"/>
          </a:ln>
        </p:spPr>
      </p:sp>
      <p:sp>
        <p:nvSpPr>
          <p:cNvPr id="9" name="Text 6"/>
          <p:cNvSpPr txBox="1"/>
          <p:nvPr/>
        </p:nvSpPr>
        <p:spPr>
          <a:xfrm>
            <a:off x="8183880" y="3895344"/>
            <a:ext cx="3337560" cy="868680"/>
          </a:xfrm>
          <a:prstGeom prst="rect">
            <a:avLst/>
          </a:prstGeom>
          <a:noFill/>
          <a:ln/>
        </p:spPr>
        <p:txBody>
          <a:bodyPr wrap="square" lIns="0" tIns="0" rIns="0" bIns="0" rtlCol="0" anchor="ctr"/>
          <a:lstStyle/>
          <a:p>
            <a:pPr indent="0" marL="0">
              <a:buNone/>
            </a:pPr>
            <a:r>
              <a:rPr lang="en-US" sz="1600" b="1" dirty="0">
                <a:solidFill>
                  <a:srgbClr val="0B3D91"/>
                </a:solidFill>
              </a:rPr>
              <a:t>Ràng buộc toàn vẹn</a:t>
            </a:r>
            <a:endParaRPr lang="en-US" sz="1600" dirty="0"/>
          </a:p>
          <a:p>
            <a:pPr indent="0" marL="0">
              <a:buNone/>
            </a:pPr>
            <a:r>
              <a:rPr lang="en-US" sz="1300" dirty="0">
                <a:solidFill>
                  <a:srgbClr val="334155"/>
                </a:solidFill>
              </a:rPr>
              <a:t>Vote khóa ghép; CHECK số sao 1–5; Cascade / SetNull / Restrict</a:t>
            </a:r>
            <a:endParaRPr lang="en-US" sz="1600" dirty="0"/>
          </a:p>
        </p:txBody>
      </p:sp>
      <p:sp>
        <p:nvSpPr>
          <p:cNvPr id="10" name="Shape 7"/>
          <p:cNvSpPr/>
          <p:nvPr/>
        </p:nvSpPr>
        <p:spPr>
          <a:xfrm>
            <a:off x="8001000" y="5020056"/>
            <a:ext cx="3657600" cy="1051560"/>
          </a:xfrm>
          <a:prstGeom prst="roundRect">
            <a:avLst>
              <a:gd name="adj" fmla="val 10435"/>
            </a:avLst>
          </a:prstGeom>
          <a:solidFill>
            <a:srgbClr val="EEF3FB"/>
          </a:solidFill>
          <a:ln w="12700">
            <a:solidFill>
              <a:srgbClr val="EEF3FB"/>
            </a:solidFill>
            <a:prstDash val="solid"/>
          </a:ln>
        </p:spPr>
      </p:sp>
      <p:sp>
        <p:nvSpPr>
          <p:cNvPr id="11" name="Text 8"/>
          <p:cNvSpPr txBox="1"/>
          <p:nvPr/>
        </p:nvSpPr>
        <p:spPr>
          <a:xfrm>
            <a:off x="8183880" y="5111496"/>
            <a:ext cx="3337560" cy="868680"/>
          </a:xfrm>
          <a:prstGeom prst="rect">
            <a:avLst/>
          </a:prstGeom>
          <a:noFill/>
          <a:ln/>
        </p:spPr>
        <p:txBody>
          <a:bodyPr wrap="square" lIns="0" tIns="0" rIns="0" bIns="0" rtlCol="0" anchor="ctr"/>
          <a:lstStyle/>
          <a:p>
            <a:pPr indent="0" marL="0">
              <a:buNone/>
            </a:pPr>
            <a:r>
              <a:rPr lang="en-US" sz="1600" b="1" dirty="0">
                <a:solidFill>
                  <a:srgbClr val="0B3D91"/>
                </a:solidFill>
              </a:rPr>
              <a:t>Tìm kiếm tiếng Việt</a:t>
            </a:r>
            <a:endParaRPr lang="en-US" sz="1600" dirty="0"/>
          </a:p>
          <a:p>
            <a:pPr indent="0" marL="0">
              <a:buNone/>
            </a:pPr>
            <a:r>
              <a:rPr lang="en-US" sz="1300" dirty="0">
                <a:solidFill>
                  <a:srgbClr val="334155"/>
                </a:solidFill>
              </a:rPr>
              <a:t>Collation Vietnamese_CI_AI: gõ không dấu vẫn tìm được</a:t>
            </a:r>
            <a:endParaRPr lang="en-US" sz="16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Quy trình kiểm duyệt dự án</a:t>
            </a:r>
            <a:endParaRPr lang="en-US" sz="3200" dirty="0"/>
          </a:p>
        </p:txBody>
      </p:sp>
      <p:sp>
        <p:nvSpPr>
          <p:cNvPr id="3" name="Shape 1"/>
          <p:cNvSpPr/>
          <p:nvPr/>
        </p:nvSpPr>
        <p:spPr>
          <a:xfrm>
            <a:off x="640080" y="1600200"/>
            <a:ext cx="2926080" cy="1188720"/>
          </a:xfrm>
          <a:prstGeom prst="roundRect">
            <a:avLst>
              <a:gd name="adj" fmla="val 11538"/>
            </a:avLst>
          </a:prstGeom>
          <a:solidFill>
            <a:srgbClr val="94A3B8"/>
          </a:solidFill>
          <a:ln w="12700">
            <a:solidFill>
              <a:srgbClr val="94A3B8"/>
            </a:solidFill>
            <a:prstDash val="solid"/>
          </a:ln>
        </p:spPr>
      </p:sp>
      <p:sp>
        <p:nvSpPr>
          <p:cNvPr id="4" name="Text 2"/>
          <p:cNvSpPr txBox="1"/>
          <p:nvPr/>
        </p:nvSpPr>
        <p:spPr>
          <a:xfrm>
            <a:off x="640080" y="1600200"/>
            <a:ext cx="2926080" cy="1188720"/>
          </a:xfrm>
          <a:prstGeom prst="rect">
            <a:avLst/>
          </a:prstGeom>
          <a:noFill/>
          <a:ln/>
        </p:spPr>
        <p:txBody>
          <a:bodyPr wrap="square" lIns="0" tIns="0" rIns="0" bIns="0" rtlCol="0" anchor="ctr"/>
          <a:lstStyle/>
          <a:p>
            <a:pPr algn="ctr" indent="0" marL="0">
              <a:buNone/>
            </a:pPr>
            <a:r>
              <a:rPr lang="en-US" sz="2200" b="1" dirty="0">
                <a:solidFill>
                  <a:srgbClr val="FFFFFF"/>
                </a:solidFill>
              </a:rPr>
              <a:t>Nháp</a:t>
            </a:r>
            <a:endParaRPr lang="en-US" sz="2200" dirty="0"/>
          </a:p>
          <a:p>
            <a:pPr algn="ctr" indent="0" marL="0">
              <a:buNone/>
            </a:pPr>
            <a:r>
              <a:rPr lang="en-US" sz="1300" dirty="0">
                <a:solidFill>
                  <a:srgbClr val="FFFFFF"/>
                </a:solidFill>
              </a:rPr>
              <a:t>Sinh viên tạo, sửa</a:t>
            </a:r>
            <a:endParaRPr lang="en-US" sz="2200" dirty="0"/>
          </a:p>
        </p:txBody>
      </p:sp>
      <p:sp>
        <p:nvSpPr>
          <p:cNvPr id="5" name="Shape 3"/>
          <p:cNvSpPr/>
          <p:nvPr/>
        </p:nvSpPr>
        <p:spPr>
          <a:xfrm>
            <a:off x="3703320" y="2011680"/>
            <a:ext cx="594360" cy="384048"/>
          </a:xfrm>
          <a:prstGeom prst="rightArrow">
            <a:avLst/>
          </a:prstGeom>
          <a:solidFill>
            <a:srgbClr val="D7DFEC"/>
          </a:solidFill>
          <a:ln w="12700">
            <a:solidFill>
              <a:srgbClr val="D7DFEC"/>
            </a:solidFill>
            <a:prstDash val="solid"/>
          </a:ln>
        </p:spPr>
      </p:sp>
      <p:sp>
        <p:nvSpPr>
          <p:cNvPr id="6" name="Shape 4"/>
          <p:cNvSpPr/>
          <p:nvPr/>
        </p:nvSpPr>
        <p:spPr>
          <a:xfrm>
            <a:off x="4434840" y="1600200"/>
            <a:ext cx="2926080" cy="1188720"/>
          </a:xfrm>
          <a:prstGeom prst="roundRect">
            <a:avLst>
              <a:gd name="adj" fmla="val 11538"/>
            </a:avLst>
          </a:prstGeom>
          <a:solidFill>
            <a:srgbClr val="F59E0B"/>
          </a:solidFill>
          <a:ln w="12700">
            <a:solidFill>
              <a:srgbClr val="F59E0B"/>
            </a:solidFill>
            <a:prstDash val="solid"/>
          </a:ln>
        </p:spPr>
      </p:sp>
      <p:sp>
        <p:nvSpPr>
          <p:cNvPr id="7" name="Text 5"/>
          <p:cNvSpPr txBox="1"/>
          <p:nvPr/>
        </p:nvSpPr>
        <p:spPr>
          <a:xfrm>
            <a:off x="4434840" y="1600200"/>
            <a:ext cx="2926080" cy="1188720"/>
          </a:xfrm>
          <a:prstGeom prst="rect">
            <a:avLst/>
          </a:prstGeom>
          <a:noFill/>
          <a:ln/>
        </p:spPr>
        <p:txBody>
          <a:bodyPr wrap="square" lIns="0" tIns="0" rIns="0" bIns="0" rtlCol="0" anchor="ctr"/>
          <a:lstStyle/>
          <a:p>
            <a:pPr algn="ctr" indent="0" marL="0">
              <a:buNone/>
            </a:pPr>
            <a:r>
              <a:rPr lang="en-US" sz="2200" b="1" dirty="0">
                <a:solidFill>
                  <a:srgbClr val="FFFFFF"/>
                </a:solidFill>
              </a:rPr>
              <a:t>Chờ duyệt</a:t>
            </a:r>
            <a:endParaRPr lang="en-US" sz="2200" dirty="0"/>
          </a:p>
          <a:p>
            <a:pPr algn="ctr" indent="0" marL="0">
              <a:buNone/>
            </a:pPr>
            <a:r>
              <a:rPr lang="en-US" sz="1300" dirty="0">
                <a:solidFill>
                  <a:srgbClr val="FFFFFF"/>
                </a:solidFill>
              </a:rPr>
              <a:t>Đủ ảnh bìa + ≥ 1 tính năng</a:t>
            </a:r>
            <a:endParaRPr lang="en-US" sz="2200" dirty="0"/>
          </a:p>
        </p:txBody>
      </p:sp>
      <p:sp>
        <p:nvSpPr>
          <p:cNvPr id="8" name="Shape 6"/>
          <p:cNvSpPr/>
          <p:nvPr/>
        </p:nvSpPr>
        <p:spPr>
          <a:xfrm>
            <a:off x="7498080" y="2011680"/>
            <a:ext cx="594360" cy="384048"/>
          </a:xfrm>
          <a:prstGeom prst="rightArrow">
            <a:avLst/>
          </a:prstGeom>
          <a:solidFill>
            <a:srgbClr val="D7DFEC"/>
          </a:solidFill>
          <a:ln w="12700">
            <a:solidFill>
              <a:srgbClr val="D7DFEC"/>
            </a:solidFill>
            <a:prstDash val="solid"/>
          </a:ln>
        </p:spPr>
      </p:sp>
      <p:sp>
        <p:nvSpPr>
          <p:cNvPr id="9" name="Shape 7"/>
          <p:cNvSpPr/>
          <p:nvPr/>
        </p:nvSpPr>
        <p:spPr>
          <a:xfrm>
            <a:off x="8229600" y="1600200"/>
            <a:ext cx="2926080" cy="1188720"/>
          </a:xfrm>
          <a:prstGeom prst="roundRect">
            <a:avLst>
              <a:gd name="adj" fmla="val 11538"/>
            </a:avLst>
          </a:prstGeom>
          <a:solidFill>
            <a:srgbClr val="16A34A"/>
          </a:solidFill>
          <a:ln w="12700">
            <a:solidFill>
              <a:srgbClr val="16A34A"/>
            </a:solidFill>
            <a:prstDash val="solid"/>
          </a:ln>
        </p:spPr>
      </p:sp>
      <p:sp>
        <p:nvSpPr>
          <p:cNvPr id="10" name="Text 8"/>
          <p:cNvSpPr txBox="1"/>
          <p:nvPr/>
        </p:nvSpPr>
        <p:spPr>
          <a:xfrm>
            <a:off x="8229600" y="1600200"/>
            <a:ext cx="2926080" cy="1188720"/>
          </a:xfrm>
          <a:prstGeom prst="rect">
            <a:avLst/>
          </a:prstGeom>
          <a:noFill/>
          <a:ln/>
        </p:spPr>
        <p:txBody>
          <a:bodyPr wrap="square" lIns="0" tIns="0" rIns="0" bIns="0" rtlCol="0" anchor="ctr"/>
          <a:lstStyle/>
          <a:p>
            <a:pPr algn="ctr" indent="0" marL="0">
              <a:buNone/>
            </a:pPr>
            <a:r>
              <a:rPr lang="en-US" sz="2200" b="1" dirty="0">
                <a:solidFill>
                  <a:srgbClr val="FFFFFF"/>
                </a:solidFill>
              </a:rPr>
              <a:t>Đã duyệt</a:t>
            </a:r>
            <a:endParaRPr lang="en-US" sz="2200" dirty="0"/>
          </a:p>
          <a:p>
            <a:pPr algn="ctr" indent="0" marL="0">
              <a:buNone/>
            </a:pPr>
            <a:r>
              <a:rPr lang="en-US" sz="1300" dirty="0">
                <a:solidFill>
                  <a:srgbClr val="FFFFFF"/>
                </a:solidFill>
              </a:rPr>
              <a:t>Hiển thị công khai</a:t>
            </a:r>
            <a:endParaRPr lang="en-US" sz="2200" dirty="0"/>
          </a:p>
        </p:txBody>
      </p:sp>
      <p:sp>
        <p:nvSpPr>
          <p:cNvPr id="11" name="Shape 9"/>
          <p:cNvSpPr/>
          <p:nvPr/>
        </p:nvSpPr>
        <p:spPr>
          <a:xfrm>
            <a:off x="4434840" y="3749040"/>
            <a:ext cx="2926080" cy="1005840"/>
          </a:xfrm>
          <a:prstGeom prst="roundRect">
            <a:avLst>
              <a:gd name="adj" fmla="val 13636"/>
            </a:avLst>
          </a:prstGeom>
          <a:solidFill>
            <a:srgbClr val="FEE2E2"/>
          </a:solidFill>
          <a:ln w="12700">
            <a:solidFill>
              <a:srgbClr val="DC2626"/>
            </a:solidFill>
            <a:prstDash val="solid"/>
          </a:ln>
        </p:spPr>
      </p:sp>
      <p:sp>
        <p:nvSpPr>
          <p:cNvPr id="12" name="Text 10"/>
          <p:cNvSpPr txBox="1"/>
          <p:nvPr/>
        </p:nvSpPr>
        <p:spPr>
          <a:xfrm>
            <a:off x="4434840" y="3749040"/>
            <a:ext cx="2926080" cy="1005840"/>
          </a:xfrm>
          <a:prstGeom prst="rect">
            <a:avLst/>
          </a:prstGeom>
          <a:noFill/>
          <a:ln/>
        </p:spPr>
        <p:txBody>
          <a:bodyPr wrap="square" lIns="0" tIns="0" rIns="0" bIns="0" rtlCol="0" anchor="ctr"/>
          <a:lstStyle/>
          <a:p>
            <a:pPr algn="ctr" indent="0" marL="0">
              <a:buNone/>
            </a:pPr>
            <a:r>
              <a:rPr lang="en-US" sz="2000" b="1" dirty="0">
                <a:solidFill>
                  <a:srgbClr val="DC2626"/>
                </a:solidFill>
              </a:rPr>
              <a:t>Bị từ chối</a:t>
            </a:r>
            <a:endParaRPr lang="en-US" sz="2000" dirty="0"/>
          </a:p>
          <a:p>
            <a:pPr algn="ctr" indent="0" marL="0">
              <a:buNone/>
            </a:pPr>
            <a:r>
              <a:rPr lang="en-US" sz="1300" dirty="0">
                <a:solidFill>
                  <a:srgbClr val="334155"/>
                </a:solidFill>
              </a:rPr>
              <a:t>Bắt buộc ghi lý do</a:t>
            </a:r>
            <a:endParaRPr lang="en-US" sz="2000" dirty="0"/>
          </a:p>
        </p:txBody>
      </p:sp>
      <p:sp>
        <p:nvSpPr>
          <p:cNvPr id="13" name="Shape 11"/>
          <p:cNvSpPr/>
          <p:nvPr/>
        </p:nvSpPr>
        <p:spPr>
          <a:xfrm>
            <a:off x="5715000" y="2926080"/>
            <a:ext cx="365760" cy="685800"/>
          </a:xfrm>
          <a:prstGeom prst="downArrow">
            <a:avLst/>
          </a:prstGeom>
          <a:solidFill>
            <a:srgbClr val="D7DFEC"/>
          </a:solidFill>
          <a:ln w="12700">
            <a:solidFill>
              <a:srgbClr val="D7DFEC"/>
            </a:solidFill>
            <a:prstDash val="solid"/>
          </a:ln>
        </p:spPr>
      </p:sp>
      <p:sp>
        <p:nvSpPr>
          <p:cNvPr id="14" name="Shape 12"/>
          <p:cNvSpPr/>
          <p:nvPr/>
        </p:nvSpPr>
        <p:spPr>
          <a:xfrm>
            <a:off x="8229600" y="3749040"/>
            <a:ext cx="2926080" cy="1005840"/>
          </a:xfrm>
          <a:prstGeom prst="roundRect">
            <a:avLst>
              <a:gd name="adj" fmla="val 13636"/>
            </a:avLst>
          </a:prstGeom>
          <a:solidFill>
            <a:srgbClr val="E2E8F0"/>
          </a:solidFill>
          <a:ln w="12700">
            <a:solidFill>
              <a:srgbClr val="334155"/>
            </a:solidFill>
            <a:prstDash val="solid"/>
          </a:ln>
        </p:spPr>
      </p:sp>
      <p:sp>
        <p:nvSpPr>
          <p:cNvPr id="15" name="Text 13"/>
          <p:cNvSpPr txBox="1"/>
          <p:nvPr/>
        </p:nvSpPr>
        <p:spPr>
          <a:xfrm>
            <a:off x="8229600" y="3749040"/>
            <a:ext cx="2926080" cy="1005840"/>
          </a:xfrm>
          <a:prstGeom prst="rect">
            <a:avLst/>
          </a:prstGeom>
          <a:noFill/>
          <a:ln/>
        </p:spPr>
        <p:txBody>
          <a:bodyPr wrap="square" lIns="0" tIns="0" rIns="0" bIns="0" rtlCol="0" anchor="ctr"/>
          <a:lstStyle/>
          <a:p>
            <a:pPr algn="ctr" indent="0" marL="0">
              <a:buNone/>
            </a:pPr>
            <a:r>
              <a:rPr lang="en-US" sz="2000" b="1" dirty="0">
                <a:solidFill>
                  <a:srgbClr val="334155"/>
                </a:solidFill>
              </a:rPr>
              <a:t>Ẩn</a:t>
            </a:r>
            <a:endParaRPr lang="en-US" sz="2000" dirty="0"/>
          </a:p>
          <a:p>
            <a:pPr algn="ctr" indent="0" marL="0">
              <a:buNone/>
            </a:pPr>
            <a:r>
              <a:rPr lang="en-US" sz="1300" dirty="0">
                <a:solidFill>
                  <a:srgbClr val="334155"/>
                </a:solidFill>
              </a:rPr>
              <a:t>Quản trị ẩn / hiện lại</a:t>
            </a:r>
            <a:endParaRPr lang="en-US" sz="2000" dirty="0"/>
          </a:p>
        </p:txBody>
      </p:sp>
      <p:sp>
        <p:nvSpPr>
          <p:cNvPr id="16" name="Shape 14"/>
          <p:cNvSpPr/>
          <p:nvPr/>
        </p:nvSpPr>
        <p:spPr>
          <a:xfrm>
            <a:off x="9509760" y="2926080"/>
            <a:ext cx="365760" cy="685800"/>
          </a:xfrm>
          <a:prstGeom prst="downArrow">
            <a:avLst/>
          </a:prstGeom>
          <a:solidFill>
            <a:srgbClr val="D7DFEC"/>
          </a:solidFill>
          <a:ln w="12700">
            <a:solidFill>
              <a:srgbClr val="D7DFEC"/>
            </a:solidFill>
            <a:prstDash val="solid"/>
          </a:ln>
        </p:spPr>
      </p:sp>
      <p:sp>
        <p:nvSpPr>
          <p:cNvPr id="17" name="Text 15"/>
          <p:cNvSpPr txBox="1"/>
          <p:nvPr/>
        </p:nvSpPr>
        <p:spPr>
          <a:xfrm>
            <a:off x="640080" y="5120640"/>
            <a:ext cx="10972800" cy="1005840"/>
          </a:xfrm>
          <a:prstGeom prst="rect">
            <a:avLst/>
          </a:prstGeom>
          <a:noFill/>
          <a:ln/>
        </p:spPr>
        <p:txBody>
          <a:bodyPr wrap="square" rtlCol="0" anchor="ctr"/>
          <a:lstStyle/>
          <a:p>
            <a:pPr marL="342900" indent="-342900">
              <a:spcAft>
                <a:spcPts val="600"/>
              </a:spcAft>
              <a:buSzPct val="100000"/>
              <a:buChar char="•"/>
            </a:pPr>
            <a:r>
              <a:rPr lang="en-US" sz="1500" dirty="0">
                <a:solidFill>
                  <a:srgbClr val="334155"/>
                </a:solidFill>
              </a:rPr>
              <a:t>Sinh viên sửa và gửi duyệt lại khi bị từ chối; rút lại khi đang chờ duyệt</a:t>
            </a:r>
            <a:endParaRPr lang="en-US" sz="1500" dirty="0"/>
          </a:p>
          <a:p>
            <a:pPr marL="342900" indent="-342900">
              <a:spcAft>
                <a:spcPts val="600"/>
              </a:spcAft>
              <a:buSzPct val="100000"/>
              <a:buChar char="•"/>
            </a:pPr>
            <a:r>
              <a:rPr lang="en-US" sz="1500" dirty="0">
                <a:solidFill>
                  <a:srgbClr val="334155"/>
                </a:solidFill>
              </a:rPr>
              <a:t>Quy tắc tập trung trong lớp ProjectRules: CanEdit, CanDelete, CanSubmit, CanWithdraw</a:t>
            </a:r>
            <a:endParaRPr lang="en-US" sz="15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Giao diện người dùng</a:t>
            </a:r>
            <a:endParaRPr lang="en-US" sz="3200" dirty="0"/>
          </a:p>
        </p:txBody>
      </p:sp>
      <p:pic>
        <p:nvPicPr>
          <p:cNvPr id="3" name="Image 0" descr="D:/Desktop/TVU - BT/DA THI/ASP.NET/BAO CAO/PHẠM TUẤN ANH - MSSV 170122372 - ASP.NET/PkuongProject/docs/screenshots/k01_trang_chu.png">    </p:cNvPr>
          <p:cNvPicPr>
            <a:picLocks noChangeAspect="1"/>
          </p:cNvPicPr>
          <p:nvPr/>
        </p:nvPicPr>
        <p:blipFill>
          <a:blip r:embed="rId1"/>
          <a:stretch>
            <a:fillRect/>
          </a:stretch>
        </p:blipFill>
        <p:spPr>
          <a:xfrm>
            <a:off x="1208014" y="1280160"/>
            <a:ext cx="4121932" cy="4526280"/>
          </a:xfrm>
          <a:prstGeom prst="rect">
            <a:avLst/>
          </a:prstGeom>
          <a:effectLst>
            <a:outerShdw sx="100000" sy="100000" kx="0" ky="0" algn="bl" rotWithShape="0" blurRad="101600" dist="38100" dir="5400000">
              <a:srgbClr val="000000">
                <a:alpha val="18000"/>
              </a:srgbClr>
            </a:outerShdw>
          </a:effectLst>
        </p:spPr>
      </p:pic>
      <p:sp>
        <p:nvSpPr>
          <p:cNvPr id="4" name="Text 1"/>
          <p:cNvSpPr txBox="1"/>
          <p:nvPr/>
        </p:nvSpPr>
        <p:spPr>
          <a:xfrm>
            <a:off x="548640" y="5897880"/>
            <a:ext cx="5440680" cy="365760"/>
          </a:xfrm>
          <a:prstGeom prst="rect">
            <a:avLst/>
          </a:prstGeom>
          <a:noFill/>
          <a:ln/>
        </p:spPr>
        <p:txBody>
          <a:bodyPr wrap="square" lIns="0" tIns="0" rIns="0" bIns="0" rtlCol="0" anchor="ctr"/>
          <a:lstStyle/>
          <a:p>
            <a:pPr algn="ctr" indent="0" marL="0">
              <a:buNone/>
            </a:pPr>
            <a:r>
              <a:rPr lang="en-US" sz="1400" dirty="0">
                <a:solidFill>
                  <a:srgbClr val="334155"/>
                </a:solidFill>
              </a:rPr>
              <a:t>Trang chủ: thống kê, dự án nổi bật, lĩnh vực</a:t>
            </a:r>
            <a:endParaRPr lang="en-US" sz="1400" dirty="0"/>
          </a:p>
        </p:txBody>
      </p:sp>
      <p:pic>
        <p:nvPicPr>
          <p:cNvPr id="5" name="Image 1" descr="D:/Desktop/TVU - BT/DA THI/ASP.NET/BAO CAO/PHẠM TUẤN ANH - MSSV 170122372 - ASP.NET/PkuongProject/docs/screenshots/k04_chi_tiet_du_an.png">    </p:cNvPr>
          <p:cNvPicPr>
            <a:picLocks noChangeAspect="1"/>
          </p:cNvPicPr>
          <p:nvPr/>
        </p:nvPicPr>
        <p:blipFill>
          <a:blip r:embed="rId2"/>
          <a:stretch>
            <a:fillRect/>
          </a:stretch>
        </p:blipFill>
        <p:spPr>
          <a:xfrm>
            <a:off x="6760506" y="1280160"/>
            <a:ext cx="4264068" cy="4526280"/>
          </a:xfrm>
          <a:prstGeom prst="rect">
            <a:avLst/>
          </a:prstGeom>
          <a:effectLst>
            <a:outerShdw sx="100000" sy="100000" kx="0" ky="0" algn="bl" rotWithShape="0" blurRad="101600" dist="38100" dir="5400000">
              <a:srgbClr val="000000">
                <a:alpha val="18000"/>
              </a:srgbClr>
            </a:outerShdw>
          </a:effectLst>
        </p:spPr>
      </p:pic>
      <p:sp>
        <p:nvSpPr>
          <p:cNvPr id="6" name="Text 2"/>
          <p:cNvSpPr txBox="1"/>
          <p:nvPr/>
        </p:nvSpPr>
        <p:spPr>
          <a:xfrm>
            <a:off x="6172200" y="5897880"/>
            <a:ext cx="5440680" cy="365760"/>
          </a:xfrm>
          <a:prstGeom prst="rect">
            <a:avLst/>
          </a:prstGeom>
          <a:noFill/>
          <a:ln/>
        </p:spPr>
        <p:txBody>
          <a:bodyPr wrap="square" lIns="0" tIns="0" rIns="0" bIns="0" rtlCol="0" anchor="ctr"/>
          <a:lstStyle/>
          <a:p>
            <a:pPr algn="ctr" indent="0" marL="0">
              <a:buNone/>
            </a:pPr>
            <a:r>
              <a:rPr lang="en-US" sz="1400" dirty="0">
                <a:solidFill>
                  <a:srgbClr val="334155"/>
                </a:solidFill>
              </a:rPr>
              <a:t>Chi tiết dự án Zalord</a:t>
            </a:r>
            <a:endParaRPr lang="en-US" sz="14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Giao diện sinh viên</a:t>
            </a:r>
            <a:endParaRPr lang="en-US" sz="3200" dirty="0"/>
          </a:p>
        </p:txBody>
      </p:sp>
      <p:pic>
        <p:nvPicPr>
          <p:cNvPr id="3" name="Image 0" descr="D:/Desktop/TVU - BT/DA THI/ASP.NET/BAO CAO/PHẠM TUẤN ANH - MSSV 170122372 - ASP.NET/PkuongProject/docs/screenshots/s02_dang_du_an_moi.png">    </p:cNvPr>
          <p:cNvPicPr>
            <a:picLocks noChangeAspect="1"/>
          </p:cNvPicPr>
          <p:nvPr/>
        </p:nvPicPr>
        <p:blipFill>
          <a:blip r:embed="rId1"/>
          <a:stretch>
            <a:fillRect/>
          </a:stretch>
        </p:blipFill>
        <p:spPr>
          <a:xfrm>
            <a:off x="795821" y="1280160"/>
            <a:ext cx="4946319" cy="4526280"/>
          </a:xfrm>
          <a:prstGeom prst="rect">
            <a:avLst/>
          </a:prstGeom>
          <a:effectLst>
            <a:outerShdw sx="100000" sy="100000" kx="0" ky="0" algn="bl" rotWithShape="0" blurRad="101600" dist="38100" dir="5400000">
              <a:srgbClr val="000000">
                <a:alpha val="18000"/>
              </a:srgbClr>
            </a:outerShdw>
          </a:effectLst>
        </p:spPr>
      </p:pic>
      <p:sp>
        <p:nvSpPr>
          <p:cNvPr id="4" name="Text 1"/>
          <p:cNvSpPr txBox="1"/>
          <p:nvPr/>
        </p:nvSpPr>
        <p:spPr>
          <a:xfrm>
            <a:off x="548640" y="5897880"/>
            <a:ext cx="5440680" cy="365760"/>
          </a:xfrm>
          <a:prstGeom prst="rect">
            <a:avLst/>
          </a:prstGeom>
          <a:noFill/>
          <a:ln/>
        </p:spPr>
        <p:txBody>
          <a:bodyPr wrap="square" lIns="0" tIns="0" rIns="0" bIns="0" rtlCol="0" anchor="ctr"/>
          <a:lstStyle/>
          <a:p>
            <a:pPr algn="ctr" indent="0" marL="0">
              <a:buNone/>
            </a:pPr>
            <a:r>
              <a:rPr lang="en-US" sz="1400" dirty="0">
                <a:solidFill>
                  <a:srgbClr val="334155"/>
                </a:solidFill>
              </a:rPr>
              <a:t>Đăng dự án mới với trình soạn thảo</a:t>
            </a:r>
            <a:endParaRPr lang="en-US" sz="1400" dirty="0"/>
          </a:p>
        </p:txBody>
      </p:sp>
      <p:pic>
        <p:nvPicPr>
          <p:cNvPr id="5" name="Image 1" descr="D:/Desktop/TVU - BT/DA THI/ASP.NET/BAO CAO/PHẠM TUẤN ANH - MSSV 170122372 - ASP.NET/PkuongProject/docs/screenshots/s05_binh_luan_danh_gia.png">    </p:cNvPr>
          <p:cNvPicPr>
            <a:picLocks noChangeAspect="1"/>
          </p:cNvPicPr>
          <p:nvPr/>
        </p:nvPicPr>
        <p:blipFill>
          <a:blip r:embed="rId2"/>
          <a:stretch>
            <a:fillRect/>
          </a:stretch>
        </p:blipFill>
        <p:spPr>
          <a:xfrm>
            <a:off x="6172200" y="1391132"/>
            <a:ext cx="5440680" cy="4304335"/>
          </a:xfrm>
          <a:prstGeom prst="rect">
            <a:avLst/>
          </a:prstGeom>
          <a:effectLst>
            <a:outerShdw sx="100000" sy="100000" kx="0" ky="0" algn="bl" rotWithShape="0" blurRad="101600" dist="38100" dir="5400000">
              <a:srgbClr val="000000">
                <a:alpha val="18000"/>
              </a:srgbClr>
            </a:outerShdw>
          </a:effectLst>
        </p:spPr>
      </p:pic>
      <p:sp>
        <p:nvSpPr>
          <p:cNvPr id="6" name="Text 2"/>
          <p:cNvSpPr txBox="1"/>
          <p:nvPr/>
        </p:nvSpPr>
        <p:spPr>
          <a:xfrm>
            <a:off x="6172200" y="5897880"/>
            <a:ext cx="5440680" cy="365760"/>
          </a:xfrm>
          <a:prstGeom prst="rect">
            <a:avLst/>
          </a:prstGeom>
          <a:noFill/>
          <a:ln/>
        </p:spPr>
        <p:txBody>
          <a:bodyPr wrap="square" lIns="0" tIns="0" rIns="0" bIns="0" rtlCol="0" anchor="ctr"/>
          <a:lstStyle/>
          <a:p>
            <a:pPr algn="ctr" indent="0" marL="0">
              <a:buNone/>
            </a:pPr>
            <a:r>
              <a:rPr lang="en-US" sz="1400" dirty="0">
                <a:solidFill>
                  <a:srgbClr val="334155"/>
                </a:solidFill>
              </a:rPr>
              <a:t>Bình luận, đánh giá sao, chủ dự án trả lời</a:t>
            </a:r>
            <a:endParaRPr lang="en-US" sz="14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Giao diện quản trị</a:t>
            </a:r>
            <a:endParaRPr lang="en-US" sz="3200" dirty="0"/>
          </a:p>
        </p:txBody>
      </p:sp>
      <p:pic>
        <p:nvPicPr>
          <p:cNvPr id="3" name="Image 0" descr="D:/Desktop/TVU - BT/DA THI/ASP.NET/BAO CAO/PHẠM TUẤN ANH - MSSV 170122372 - ASP.NET/PkuongProject/docs/screenshots/a01_dashboard.png">    </p:cNvPr>
          <p:cNvPicPr>
            <a:picLocks noChangeAspect="1"/>
          </p:cNvPicPr>
          <p:nvPr/>
        </p:nvPicPr>
        <p:blipFill>
          <a:blip r:embed="rId1"/>
          <a:stretch>
            <a:fillRect/>
          </a:stretch>
        </p:blipFill>
        <p:spPr>
          <a:xfrm>
            <a:off x="1208014" y="1280160"/>
            <a:ext cx="4121932" cy="4526280"/>
          </a:xfrm>
          <a:prstGeom prst="rect">
            <a:avLst/>
          </a:prstGeom>
          <a:effectLst>
            <a:outerShdw sx="100000" sy="100000" kx="0" ky="0" algn="bl" rotWithShape="0" blurRad="101600" dist="38100" dir="5400000">
              <a:srgbClr val="000000">
                <a:alpha val="18000"/>
              </a:srgbClr>
            </a:outerShdw>
          </a:effectLst>
        </p:spPr>
      </p:pic>
      <p:sp>
        <p:nvSpPr>
          <p:cNvPr id="4" name="Text 1"/>
          <p:cNvSpPr txBox="1"/>
          <p:nvPr/>
        </p:nvSpPr>
        <p:spPr>
          <a:xfrm>
            <a:off x="548640" y="5897880"/>
            <a:ext cx="5440680" cy="365760"/>
          </a:xfrm>
          <a:prstGeom prst="rect">
            <a:avLst/>
          </a:prstGeom>
          <a:noFill/>
          <a:ln/>
        </p:spPr>
        <p:txBody>
          <a:bodyPr wrap="square" lIns="0" tIns="0" rIns="0" bIns="0" rtlCol="0" anchor="ctr"/>
          <a:lstStyle/>
          <a:p>
            <a:pPr algn="ctr" indent="0" marL="0">
              <a:buNone/>
            </a:pPr>
            <a:r>
              <a:rPr lang="en-US" sz="1400" dirty="0">
                <a:solidFill>
                  <a:srgbClr val="334155"/>
                </a:solidFill>
              </a:rPr>
              <a:t>Dashboard: 7 chỉ số, 4 biểu đồ</a:t>
            </a:r>
            <a:endParaRPr lang="en-US" sz="1400" dirty="0"/>
          </a:p>
        </p:txBody>
      </p:sp>
      <p:pic>
        <p:nvPicPr>
          <p:cNvPr id="5" name="Image 1" descr="D:/Desktop/TVU - BT/DA THI/ASP.NET/BAO CAO/PHẠM TUẤN ANH - MSSV 170122372 - ASP.NET/PkuongProject/docs/screenshots/a02_duyet_du_an.png">    </p:cNvPr>
          <p:cNvPicPr>
            <a:picLocks noChangeAspect="1"/>
          </p:cNvPicPr>
          <p:nvPr/>
        </p:nvPicPr>
        <p:blipFill>
          <a:blip r:embed="rId2"/>
          <a:stretch>
            <a:fillRect/>
          </a:stretch>
        </p:blipFill>
        <p:spPr>
          <a:xfrm>
            <a:off x="6172200" y="1352689"/>
            <a:ext cx="5440680" cy="4381221"/>
          </a:xfrm>
          <a:prstGeom prst="rect">
            <a:avLst/>
          </a:prstGeom>
          <a:effectLst>
            <a:outerShdw sx="100000" sy="100000" kx="0" ky="0" algn="bl" rotWithShape="0" blurRad="101600" dist="38100" dir="5400000">
              <a:srgbClr val="000000">
                <a:alpha val="18000"/>
              </a:srgbClr>
            </a:outerShdw>
          </a:effectLst>
        </p:spPr>
      </p:pic>
      <p:sp>
        <p:nvSpPr>
          <p:cNvPr id="6" name="Text 2"/>
          <p:cNvSpPr txBox="1"/>
          <p:nvPr/>
        </p:nvSpPr>
        <p:spPr>
          <a:xfrm>
            <a:off x="6172200" y="5897880"/>
            <a:ext cx="5440680" cy="365760"/>
          </a:xfrm>
          <a:prstGeom prst="rect">
            <a:avLst/>
          </a:prstGeom>
          <a:noFill/>
          <a:ln/>
        </p:spPr>
        <p:txBody>
          <a:bodyPr wrap="square" lIns="0" tIns="0" rIns="0" bIns="0" rtlCol="0" anchor="ctr"/>
          <a:lstStyle/>
          <a:p>
            <a:pPr algn="ctr" indent="0" marL="0">
              <a:buNone/>
            </a:pPr>
            <a:r>
              <a:rPr lang="en-US" sz="1400" dirty="0">
                <a:solidFill>
                  <a:srgbClr val="334155"/>
                </a:solidFill>
              </a:rPr>
              <a:t>Duyệt, từ chối, ẩn, đánh dấu nổi bật</a:t>
            </a:r>
            <a:endParaRPr lang="en-US" sz="14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Bảo mật ứng dụng</a:t>
            </a:r>
            <a:endParaRPr lang="en-US" sz="3200" dirty="0"/>
          </a:p>
        </p:txBody>
      </p:sp>
      <p:sp>
        <p:nvSpPr>
          <p:cNvPr id="3" name="Shape 1"/>
          <p:cNvSpPr/>
          <p:nvPr/>
        </p:nvSpPr>
        <p:spPr>
          <a:xfrm>
            <a:off x="548640" y="1463040"/>
            <a:ext cx="3520440" cy="2057400"/>
          </a:xfrm>
          <a:prstGeom prst="roundRect">
            <a:avLst>
              <a:gd name="adj" fmla="val 5333"/>
            </a:avLst>
          </a:prstGeom>
          <a:solidFill>
            <a:srgbClr val="EEF3FB"/>
          </a:solidFill>
          <a:ln w="12700">
            <a:solidFill>
              <a:srgbClr val="EEF3FB"/>
            </a:solidFill>
            <a:prstDash val="solid"/>
          </a:ln>
        </p:spPr>
      </p:sp>
      <p:sp>
        <p:nvSpPr>
          <p:cNvPr id="4" name="Shape 2"/>
          <p:cNvSpPr/>
          <p:nvPr/>
        </p:nvSpPr>
        <p:spPr>
          <a:xfrm>
            <a:off x="822960" y="1737360"/>
            <a:ext cx="640080" cy="640080"/>
          </a:xfrm>
          <a:prstGeom prst="ellipse">
            <a:avLst/>
          </a:prstGeom>
          <a:solidFill>
            <a:srgbClr val="0B3D91"/>
          </a:solidFill>
          <a:ln w="12700">
            <a:solidFill>
              <a:srgbClr val="0B3D91"/>
            </a:solidFill>
            <a:prstDash val="solid"/>
          </a:ln>
        </p:spPr>
      </p:sp>
      <p:pic>
        <p:nvPicPr>
          <p:cNvPr id="5" name="Image 0" descr="preencoded.png">    </p:cNvPr>
          <p:cNvPicPr>
            <a:picLocks noChangeAspect="1"/>
          </p:cNvPicPr>
          <p:nvPr/>
        </p:nvPicPr>
        <p:blipFill>
          <a:blip r:embed="rId1"/>
          <a:stretch>
            <a:fillRect/>
          </a:stretch>
        </p:blipFill>
        <p:spPr>
          <a:xfrm>
            <a:off x="976579" y="1890979"/>
            <a:ext cx="332842" cy="332842"/>
          </a:xfrm>
          <a:prstGeom prst="rect">
            <a:avLst/>
          </a:prstGeom>
        </p:spPr>
      </p:pic>
      <p:sp>
        <p:nvSpPr>
          <p:cNvPr id="6" name="Text 3"/>
          <p:cNvSpPr txBox="1"/>
          <p:nvPr/>
        </p:nvSpPr>
        <p:spPr>
          <a:xfrm>
            <a:off x="1645920" y="1783080"/>
            <a:ext cx="2286000" cy="548640"/>
          </a:xfrm>
          <a:prstGeom prst="rect">
            <a:avLst/>
          </a:prstGeom>
          <a:noFill/>
          <a:ln/>
        </p:spPr>
        <p:txBody>
          <a:bodyPr wrap="square" lIns="0" tIns="0" rIns="0" bIns="0" rtlCol="0" anchor="ctr"/>
          <a:lstStyle/>
          <a:p>
            <a:pPr indent="0" marL="0">
              <a:buNone/>
            </a:pPr>
            <a:r>
              <a:rPr lang="en-US" sz="1900" b="1" dirty="0">
                <a:solidFill>
                  <a:srgbClr val="0F172A"/>
                </a:solidFill>
              </a:rPr>
              <a:t>Mật khẩu</a:t>
            </a:r>
            <a:endParaRPr lang="en-US" sz="1900" dirty="0"/>
          </a:p>
        </p:txBody>
      </p:sp>
      <p:sp>
        <p:nvSpPr>
          <p:cNvPr id="7" name="Text 4"/>
          <p:cNvSpPr txBox="1"/>
          <p:nvPr/>
        </p:nvSpPr>
        <p:spPr>
          <a:xfrm>
            <a:off x="822960" y="2514600"/>
            <a:ext cx="3017520" cy="868680"/>
          </a:xfrm>
          <a:prstGeom prst="rect">
            <a:avLst/>
          </a:prstGeom>
          <a:noFill/>
          <a:ln/>
        </p:spPr>
        <p:txBody>
          <a:bodyPr wrap="square" lIns="0" tIns="0" rIns="0" bIns="0" rtlCol="0" anchor="t"/>
          <a:lstStyle/>
          <a:p>
            <a:pPr indent="0" marL="0">
              <a:buNone/>
            </a:pPr>
            <a:r>
              <a:rPr lang="en-US" sz="1400" dirty="0">
                <a:solidFill>
                  <a:srgbClr val="334155"/>
                </a:solidFill>
              </a:rPr>
              <a:t>Băm PBKDF2 có salt, không lưu mật khẩu gốc</a:t>
            </a:r>
            <a:endParaRPr lang="en-US" sz="1400" dirty="0"/>
          </a:p>
        </p:txBody>
      </p:sp>
      <p:sp>
        <p:nvSpPr>
          <p:cNvPr id="8" name="Shape 5"/>
          <p:cNvSpPr/>
          <p:nvPr/>
        </p:nvSpPr>
        <p:spPr>
          <a:xfrm>
            <a:off x="4297680" y="1463040"/>
            <a:ext cx="3520440" cy="2057400"/>
          </a:xfrm>
          <a:prstGeom prst="roundRect">
            <a:avLst>
              <a:gd name="adj" fmla="val 5333"/>
            </a:avLst>
          </a:prstGeom>
          <a:solidFill>
            <a:srgbClr val="EEF3FB"/>
          </a:solidFill>
          <a:ln w="12700">
            <a:solidFill>
              <a:srgbClr val="EEF3FB"/>
            </a:solidFill>
            <a:prstDash val="solid"/>
          </a:ln>
        </p:spPr>
      </p:sp>
      <p:sp>
        <p:nvSpPr>
          <p:cNvPr id="9" name="Shape 6"/>
          <p:cNvSpPr/>
          <p:nvPr/>
        </p:nvSpPr>
        <p:spPr>
          <a:xfrm>
            <a:off x="4572000" y="1737360"/>
            <a:ext cx="640080" cy="640080"/>
          </a:xfrm>
          <a:prstGeom prst="ellipse">
            <a:avLst/>
          </a:prstGeom>
          <a:solidFill>
            <a:srgbClr val="F59E0B"/>
          </a:solidFill>
          <a:ln w="12700">
            <a:solidFill>
              <a:srgbClr val="F59E0B"/>
            </a:solidFill>
            <a:prstDash val="solid"/>
          </a:ln>
        </p:spPr>
      </p:sp>
      <p:pic>
        <p:nvPicPr>
          <p:cNvPr id="10" name="Image 1" descr="preencoded.png">    </p:cNvPr>
          <p:cNvPicPr>
            <a:picLocks noChangeAspect="1"/>
          </p:cNvPicPr>
          <p:nvPr/>
        </p:nvPicPr>
        <p:blipFill>
          <a:blip r:embed="rId2"/>
          <a:stretch>
            <a:fillRect/>
          </a:stretch>
        </p:blipFill>
        <p:spPr>
          <a:xfrm>
            <a:off x="4725619" y="1890979"/>
            <a:ext cx="332842" cy="332842"/>
          </a:xfrm>
          <a:prstGeom prst="rect">
            <a:avLst/>
          </a:prstGeom>
        </p:spPr>
      </p:pic>
      <p:sp>
        <p:nvSpPr>
          <p:cNvPr id="11" name="Text 7"/>
          <p:cNvSpPr txBox="1"/>
          <p:nvPr/>
        </p:nvSpPr>
        <p:spPr>
          <a:xfrm>
            <a:off x="5394960" y="1783080"/>
            <a:ext cx="2286000" cy="548640"/>
          </a:xfrm>
          <a:prstGeom prst="rect">
            <a:avLst/>
          </a:prstGeom>
          <a:noFill/>
          <a:ln/>
        </p:spPr>
        <p:txBody>
          <a:bodyPr wrap="square" lIns="0" tIns="0" rIns="0" bIns="0" rtlCol="0" anchor="ctr"/>
          <a:lstStyle/>
          <a:p>
            <a:pPr indent="0" marL="0">
              <a:buNone/>
            </a:pPr>
            <a:r>
              <a:rPr lang="en-US" sz="1900" b="1" dirty="0">
                <a:solidFill>
                  <a:srgbClr val="0F172A"/>
                </a:solidFill>
              </a:rPr>
              <a:t>Phân quyền</a:t>
            </a:r>
            <a:endParaRPr lang="en-US" sz="1900" dirty="0"/>
          </a:p>
        </p:txBody>
      </p:sp>
      <p:sp>
        <p:nvSpPr>
          <p:cNvPr id="12" name="Text 8"/>
          <p:cNvSpPr txBox="1"/>
          <p:nvPr/>
        </p:nvSpPr>
        <p:spPr>
          <a:xfrm>
            <a:off x="4572000" y="2514600"/>
            <a:ext cx="3017520" cy="868680"/>
          </a:xfrm>
          <a:prstGeom prst="rect">
            <a:avLst/>
          </a:prstGeom>
          <a:noFill/>
          <a:ln/>
        </p:spPr>
        <p:txBody>
          <a:bodyPr wrap="square" lIns="0" tIns="0" rIns="0" bIns="0" rtlCol="0" anchor="t"/>
          <a:lstStyle/>
          <a:p>
            <a:pPr indent="0" marL="0">
              <a:buNone/>
            </a:pPr>
            <a:r>
              <a:rPr lang="en-US" sz="1400" dirty="0">
                <a:solidFill>
                  <a:srgbClr val="334155"/>
                </a:solidFill>
              </a:rPr>
              <a:t>Cookie Authentication, [Authorize(Roles)], trang 403</a:t>
            </a:r>
            <a:endParaRPr lang="en-US" sz="1400" dirty="0"/>
          </a:p>
        </p:txBody>
      </p:sp>
      <p:sp>
        <p:nvSpPr>
          <p:cNvPr id="13" name="Shape 9"/>
          <p:cNvSpPr/>
          <p:nvPr/>
        </p:nvSpPr>
        <p:spPr>
          <a:xfrm>
            <a:off x="8046720" y="1463040"/>
            <a:ext cx="3520440" cy="2057400"/>
          </a:xfrm>
          <a:prstGeom prst="roundRect">
            <a:avLst>
              <a:gd name="adj" fmla="val 5333"/>
            </a:avLst>
          </a:prstGeom>
          <a:solidFill>
            <a:srgbClr val="EEF3FB"/>
          </a:solidFill>
          <a:ln w="12700">
            <a:solidFill>
              <a:srgbClr val="EEF3FB"/>
            </a:solidFill>
            <a:prstDash val="solid"/>
          </a:ln>
        </p:spPr>
      </p:sp>
      <p:sp>
        <p:nvSpPr>
          <p:cNvPr id="14" name="Shape 10"/>
          <p:cNvSpPr/>
          <p:nvPr/>
        </p:nvSpPr>
        <p:spPr>
          <a:xfrm>
            <a:off x="8321040" y="1737360"/>
            <a:ext cx="640080" cy="640080"/>
          </a:xfrm>
          <a:prstGeom prst="ellipse">
            <a:avLst/>
          </a:prstGeom>
          <a:solidFill>
            <a:srgbClr val="0B3D91"/>
          </a:solidFill>
          <a:ln w="12700">
            <a:solidFill>
              <a:srgbClr val="0B3D91"/>
            </a:solidFill>
            <a:prstDash val="solid"/>
          </a:ln>
        </p:spPr>
      </p:sp>
      <p:pic>
        <p:nvPicPr>
          <p:cNvPr id="15" name="Image 2" descr="preencoded.png">    </p:cNvPr>
          <p:cNvPicPr>
            <a:picLocks noChangeAspect="1"/>
          </p:cNvPicPr>
          <p:nvPr/>
        </p:nvPicPr>
        <p:blipFill>
          <a:blip r:embed="rId3"/>
          <a:stretch>
            <a:fillRect/>
          </a:stretch>
        </p:blipFill>
        <p:spPr>
          <a:xfrm>
            <a:off x="8474659" y="1890979"/>
            <a:ext cx="332842" cy="332842"/>
          </a:xfrm>
          <a:prstGeom prst="rect">
            <a:avLst/>
          </a:prstGeom>
        </p:spPr>
      </p:pic>
      <p:sp>
        <p:nvSpPr>
          <p:cNvPr id="16" name="Text 11"/>
          <p:cNvSpPr txBox="1"/>
          <p:nvPr/>
        </p:nvSpPr>
        <p:spPr>
          <a:xfrm>
            <a:off x="9144000" y="1783080"/>
            <a:ext cx="2286000" cy="548640"/>
          </a:xfrm>
          <a:prstGeom prst="rect">
            <a:avLst/>
          </a:prstGeom>
          <a:noFill/>
          <a:ln/>
        </p:spPr>
        <p:txBody>
          <a:bodyPr wrap="square" lIns="0" tIns="0" rIns="0" bIns="0" rtlCol="0" anchor="ctr"/>
          <a:lstStyle/>
          <a:p>
            <a:pPr indent="0" marL="0">
              <a:buNone/>
            </a:pPr>
            <a:r>
              <a:rPr lang="en-US" sz="1900" b="1" dirty="0">
                <a:solidFill>
                  <a:srgbClr val="0F172A"/>
                </a:solidFill>
              </a:rPr>
              <a:t>SQL Injection</a:t>
            </a:r>
            <a:endParaRPr lang="en-US" sz="1900" dirty="0"/>
          </a:p>
        </p:txBody>
      </p:sp>
      <p:sp>
        <p:nvSpPr>
          <p:cNvPr id="17" name="Text 12"/>
          <p:cNvSpPr txBox="1"/>
          <p:nvPr/>
        </p:nvSpPr>
        <p:spPr>
          <a:xfrm>
            <a:off x="8321040" y="2514600"/>
            <a:ext cx="3017520" cy="868680"/>
          </a:xfrm>
          <a:prstGeom prst="rect">
            <a:avLst/>
          </a:prstGeom>
          <a:noFill/>
          <a:ln/>
        </p:spPr>
        <p:txBody>
          <a:bodyPr wrap="square" lIns="0" tIns="0" rIns="0" bIns="0" rtlCol="0" anchor="t"/>
          <a:lstStyle/>
          <a:p>
            <a:pPr indent="0" marL="0">
              <a:buNone/>
            </a:pPr>
            <a:r>
              <a:rPr lang="en-US" sz="1400" dirty="0">
                <a:solidFill>
                  <a:srgbClr val="334155"/>
                </a:solidFill>
              </a:rPr>
              <a:t>Truy vấn qua EF Core / LINQ, tham số hóa</a:t>
            </a:r>
            <a:endParaRPr lang="en-US" sz="1400" dirty="0"/>
          </a:p>
        </p:txBody>
      </p:sp>
      <p:sp>
        <p:nvSpPr>
          <p:cNvPr id="18" name="Shape 13"/>
          <p:cNvSpPr/>
          <p:nvPr/>
        </p:nvSpPr>
        <p:spPr>
          <a:xfrm>
            <a:off x="548640" y="3794760"/>
            <a:ext cx="3520440" cy="2057400"/>
          </a:xfrm>
          <a:prstGeom prst="roundRect">
            <a:avLst>
              <a:gd name="adj" fmla="val 5333"/>
            </a:avLst>
          </a:prstGeom>
          <a:solidFill>
            <a:srgbClr val="EEF3FB"/>
          </a:solidFill>
          <a:ln w="12700">
            <a:solidFill>
              <a:srgbClr val="EEF3FB"/>
            </a:solidFill>
            <a:prstDash val="solid"/>
          </a:ln>
        </p:spPr>
      </p:sp>
      <p:sp>
        <p:nvSpPr>
          <p:cNvPr id="19" name="Shape 14"/>
          <p:cNvSpPr/>
          <p:nvPr/>
        </p:nvSpPr>
        <p:spPr>
          <a:xfrm>
            <a:off x="822960" y="4069080"/>
            <a:ext cx="640080" cy="640080"/>
          </a:xfrm>
          <a:prstGeom prst="ellipse">
            <a:avLst/>
          </a:prstGeom>
          <a:solidFill>
            <a:srgbClr val="F59E0B"/>
          </a:solidFill>
          <a:ln w="12700">
            <a:solidFill>
              <a:srgbClr val="F59E0B"/>
            </a:solidFill>
            <a:prstDash val="solid"/>
          </a:ln>
        </p:spPr>
      </p:sp>
      <p:pic>
        <p:nvPicPr>
          <p:cNvPr id="20" name="Image 3" descr="preencoded.png">    </p:cNvPr>
          <p:cNvPicPr>
            <a:picLocks noChangeAspect="1"/>
          </p:cNvPicPr>
          <p:nvPr/>
        </p:nvPicPr>
        <p:blipFill>
          <a:blip r:embed="rId4"/>
          <a:stretch>
            <a:fillRect/>
          </a:stretch>
        </p:blipFill>
        <p:spPr>
          <a:xfrm>
            <a:off x="976579" y="4222699"/>
            <a:ext cx="332842" cy="332842"/>
          </a:xfrm>
          <a:prstGeom prst="rect">
            <a:avLst/>
          </a:prstGeom>
        </p:spPr>
      </p:pic>
      <p:sp>
        <p:nvSpPr>
          <p:cNvPr id="21" name="Text 15"/>
          <p:cNvSpPr txBox="1"/>
          <p:nvPr/>
        </p:nvSpPr>
        <p:spPr>
          <a:xfrm>
            <a:off x="1645920" y="4114800"/>
            <a:ext cx="2286000" cy="548640"/>
          </a:xfrm>
          <a:prstGeom prst="rect">
            <a:avLst/>
          </a:prstGeom>
          <a:noFill/>
          <a:ln/>
        </p:spPr>
        <p:txBody>
          <a:bodyPr wrap="square" lIns="0" tIns="0" rIns="0" bIns="0" rtlCol="0" anchor="ctr"/>
          <a:lstStyle/>
          <a:p>
            <a:pPr indent="0" marL="0">
              <a:buNone/>
            </a:pPr>
            <a:r>
              <a:rPr lang="en-US" sz="1900" b="1" dirty="0">
                <a:solidFill>
                  <a:srgbClr val="0F172A"/>
                </a:solidFill>
              </a:rPr>
              <a:t>XSS</a:t>
            </a:r>
            <a:endParaRPr lang="en-US" sz="1900" dirty="0"/>
          </a:p>
        </p:txBody>
      </p:sp>
      <p:sp>
        <p:nvSpPr>
          <p:cNvPr id="22" name="Text 16"/>
          <p:cNvSpPr txBox="1"/>
          <p:nvPr/>
        </p:nvSpPr>
        <p:spPr>
          <a:xfrm>
            <a:off x="822960" y="4846320"/>
            <a:ext cx="3017520" cy="868680"/>
          </a:xfrm>
          <a:prstGeom prst="rect">
            <a:avLst/>
          </a:prstGeom>
          <a:noFill/>
          <a:ln/>
        </p:spPr>
        <p:txBody>
          <a:bodyPr wrap="square" lIns="0" tIns="0" rIns="0" bIns="0" rtlCol="0" anchor="t"/>
          <a:lstStyle/>
          <a:p>
            <a:pPr indent="0" marL="0">
              <a:buNone/>
            </a:pPr>
            <a:r>
              <a:rPr lang="en-US" sz="1400" dirty="0">
                <a:solidFill>
                  <a:srgbClr val="334155"/>
                </a:solidFill>
              </a:rPr>
              <a:t>Razor tự mã hóa; HtmlSanitizer lọc nội dung HTML</a:t>
            </a:r>
            <a:endParaRPr lang="en-US" sz="1400" dirty="0"/>
          </a:p>
        </p:txBody>
      </p:sp>
      <p:sp>
        <p:nvSpPr>
          <p:cNvPr id="23" name="Shape 17"/>
          <p:cNvSpPr/>
          <p:nvPr/>
        </p:nvSpPr>
        <p:spPr>
          <a:xfrm>
            <a:off x="4297680" y="3794760"/>
            <a:ext cx="3520440" cy="2057400"/>
          </a:xfrm>
          <a:prstGeom prst="roundRect">
            <a:avLst>
              <a:gd name="adj" fmla="val 5333"/>
            </a:avLst>
          </a:prstGeom>
          <a:solidFill>
            <a:srgbClr val="EEF3FB"/>
          </a:solidFill>
          <a:ln w="12700">
            <a:solidFill>
              <a:srgbClr val="EEF3FB"/>
            </a:solidFill>
            <a:prstDash val="solid"/>
          </a:ln>
        </p:spPr>
      </p:sp>
      <p:sp>
        <p:nvSpPr>
          <p:cNvPr id="24" name="Shape 18"/>
          <p:cNvSpPr/>
          <p:nvPr/>
        </p:nvSpPr>
        <p:spPr>
          <a:xfrm>
            <a:off x="4572000" y="4069080"/>
            <a:ext cx="640080" cy="640080"/>
          </a:xfrm>
          <a:prstGeom prst="ellipse">
            <a:avLst/>
          </a:prstGeom>
          <a:solidFill>
            <a:srgbClr val="0B3D91"/>
          </a:solidFill>
          <a:ln w="12700">
            <a:solidFill>
              <a:srgbClr val="0B3D91"/>
            </a:solidFill>
            <a:prstDash val="solid"/>
          </a:ln>
        </p:spPr>
      </p:sp>
      <p:pic>
        <p:nvPicPr>
          <p:cNvPr id="25" name="Image 4" descr="preencoded.png">    </p:cNvPr>
          <p:cNvPicPr>
            <a:picLocks noChangeAspect="1"/>
          </p:cNvPicPr>
          <p:nvPr/>
        </p:nvPicPr>
        <p:blipFill>
          <a:blip r:embed="rId5"/>
          <a:stretch>
            <a:fillRect/>
          </a:stretch>
        </p:blipFill>
        <p:spPr>
          <a:xfrm>
            <a:off x="4725619" y="4222699"/>
            <a:ext cx="332842" cy="332842"/>
          </a:xfrm>
          <a:prstGeom prst="rect">
            <a:avLst/>
          </a:prstGeom>
        </p:spPr>
      </p:pic>
      <p:sp>
        <p:nvSpPr>
          <p:cNvPr id="26" name="Text 19"/>
          <p:cNvSpPr txBox="1"/>
          <p:nvPr/>
        </p:nvSpPr>
        <p:spPr>
          <a:xfrm>
            <a:off x="5394960" y="4114800"/>
            <a:ext cx="2286000" cy="548640"/>
          </a:xfrm>
          <a:prstGeom prst="rect">
            <a:avLst/>
          </a:prstGeom>
          <a:noFill/>
          <a:ln/>
        </p:spPr>
        <p:txBody>
          <a:bodyPr wrap="square" lIns="0" tIns="0" rIns="0" bIns="0" rtlCol="0" anchor="ctr"/>
          <a:lstStyle/>
          <a:p>
            <a:pPr indent="0" marL="0">
              <a:buNone/>
            </a:pPr>
            <a:r>
              <a:rPr lang="en-US" sz="1900" b="1" dirty="0">
                <a:solidFill>
                  <a:srgbClr val="0F172A"/>
                </a:solidFill>
              </a:rPr>
              <a:t>CSRF</a:t>
            </a:r>
            <a:endParaRPr lang="en-US" sz="1900" dirty="0"/>
          </a:p>
        </p:txBody>
      </p:sp>
      <p:sp>
        <p:nvSpPr>
          <p:cNvPr id="27" name="Text 20"/>
          <p:cNvSpPr txBox="1"/>
          <p:nvPr/>
        </p:nvSpPr>
        <p:spPr>
          <a:xfrm>
            <a:off x="4572000" y="4846320"/>
            <a:ext cx="3017520" cy="868680"/>
          </a:xfrm>
          <a:prstGeom prst="rect">
            <a:avLst/>
          </a:prstGeom>
          <a:noFill/>
          <a:ln/>
        </p:spPr>
        <p:txBody>
          <a:bodyPr wrap="square" lIns="0" tIns="0" rIns="0" bIns="0" rtlCol="0" anchor="t"/>
          <a:lstStyle/>
          <a:p>
            <a:pPr indent="0" marL="0">
              <a:buNone/>
            </a:pPr>
            <a:r>
              <a:rPr lang="en-US" sz="1400" dirty="0">
                <a:solidFill>
                  <a:srgbClr val="334155"/>
                </a:solidFill>
              </a:rPr>
              <a:t>Anti-forgery token trên mọi form POST</a:t>
            </a:r>
            <a:endParaRPr lang="en-US" sz="1400" dirty="0"/>
          </a:p>
        </p:txBody>
      </p:sp>
      <p:sp>
        <p:nvSpPr>
          <p:cNvPr id="28" name="Shape 21"/>
          <p:cNvSpPr/>
          <p:nvPr/>
        </p:nvSpPr>
        <p:spPr>
          <a:xfrm>
            <a:off x="8046720" y="3794760"/>
            <a:ext cx="3520440" cy="2057400"/>
          </a:xfrm>
          <a:prstGeom prst="roundRect">
            <a:avLst>
              <a:gd name="adj" fmla="val 5333"/>
            </a:avLst>
          </a:prstGeom>
          <a:solidFill>
            <a:srgbClr val="EEF3FB"/>
          </a:solidFill>
          <a:ln w="12700">
            <a:solidFill>
              <a:srgbClr val="EEF3FB"/>
            </a:solidFill>
            <a:prstDash val="solid"/>
          </a:ln>
        </p:spPr>
      </p:sp>
      <p:sp>
        <p:nvSpPr>
          <p:cNvPr id="29" name="Shape 22"/>
          <p:cNvSpPr/>
          <p:nvPr/>
        </p:nvSpPr>
        <p:spPr>
          <a:xfrm>
            <a:off x="8321040" y="4069080"/>
            <a:ext cx="640080" cy="640080"/>
          </a:xfrm>
          <a:prstGeom prst="ellipse">
            <a:avLst/>
          </a:prstGeom>
          <a:solidFill>
            <a:srgbClr val="F59E0B"/>
          </a:solidFill>
          <a:ln w="12700">
            <a:solidFill>
              <a:srgbClr val="F59E0B"/>
            </a:solidFill>
            <a:prstDash val="solid"/>
          </a:ln>
        </p:spPr>
      </p:sp>
      <p:pic>
        <p:nvPicPr>
          <p:cNvPr id="30" name="Image 5" descr="preencoded.png">    </p:cNvPr>
          <p:cNvPicPr>
            <a:picLocks noChangeAspect="1"/>
          </p:cNvPicPr>
          <p:nvPr/>
        </p:nvPicPr>
        <p:blipFill>
          <a:blip r:embed="rId6"/>
          <a:stretch>
            <a:fillRect/>
          </a:stretch>
        </p:blipFill>
        <p:spPr>
          <a:xfrm>
            <a:off x="8474659" y="4222699"/>
            <a:ext cx="332842" cy="332842"/>
          </a:xfrm>
          <a:prstGeom prst="rect">
            <a:avLst/>
          </a:prstGeom>
        </p:spPr>
      </p:pic>
      <p:sp>
        <p:nvSpPr>
          <p:cNvPr id="31" name="Text 23"/>
          <p:cNvSpPr txBox="1"/>
          <p:nvPr/>
        </p:nvSpPr>
        <p:spPr>
          <a:xfrm>
            <a:off x="9144000" y="4114800"/>
            <a:ext cx="2286000" cy="548640"/>
          </a:xfrm>
          <a:prstGeom prst="rect">
            <a:avLst/>
          </a:prstGeom>
          <a:noFill/>
          <a:ln/>
        </p:spPr>
        <p:txBody>
          <a:bodyPr wrap="square" lIns="0" tIns="0" rIns="0" bIns="0" rtlCol="0" anchor="ctr"/>
          <a:lstStyle/>
          <a:p>
            <a:pPr indent="0" marL="0">
              <a:buNone/>
            </a:pPr>
            <a:r>
              <a:rPr lang="en-US" sz="1900" b="1" dirty="0">
                <a:solidFill>
                  <a:srgbClr val="0F172A"/>
                </a:solidFill>
              </a:rPr>
              <a:t>Tải tệp</a:t>
            </a:r>
            <a:endParaRPr lang="en-US" sz="1900" dirty="0"/>
          </a:p>
        </p:txBody>
      </p:sp>
      <p:sp>
        <p:nvSpPr>
          <p:cNvPr id="32" name="Text 24"/>
          <p:cNvSpPr txBox="1"/>
          <p:nvPr/>
        </p:nvSpPr>
        <p:spPr>
          <a:xfrm>
            <a:off x="8321040" y="4846320"/>
            <a:ext cx="3017520" cy="868680"/>
          </a:xfrm>
          <a:prstGeom prst="rect">
            <a:avLst/>
          </a:prstGeom>
          <a:noFill/>
          <a:ln/>
        </p:spPr>
        <p:txBody>
          <a:bodyPr wrap="square" lIns="0" tIns="0" rIns="0" bIns="0" rtlCol="0" anchor="t"/>
          <a:lstStyle/>
          <a:p>
            <a:pPr indent="0" marL="0">
              <a:buNone/>
            </a:pPr>
            <a:r>
              <a:rPr lang="en-US" sz="1400" dirty="0">
                <a:solidFill>
                  <a:srgbClr val="334155"/>
                </a:solidFill>
              </a:rPr>
              <a:t>Kiểm tra định dạng, dung lượng, chữ ký tệp; đổi tên ngẫu nhiên</a:t>
            </a:r>
            <a:endParaRPr lang="en-US" sz="14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Kiểm thử</a:t>
            </a:r>
            <a:endParaRPr lang="en-US" sz="3200" dirty="0"/>
          </a:p>
        </p:txBody>
      </p:sp>
      <p:graphicFrame>
        <p:nvGraphicFramePr>
          <p:cNvPr id="3" name="Chart 0" descr=""/>
          <p:cNvGraphicFramePr/>
          <p:nvPr/>
        </p:nvGraphicFramePr>
        <p:xfrm>
          <a:off x="548640" y="132588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72400" y="1463040"/>
            <a:ext cx="3886200" cy="1737360"/>
          </a:xfrm>
          <a:prstGeom prst="roundRect">
            <a:avLst>
              <a:gd name="adj" fmla="val 6316"/>
            </a:avLst>
          </a:prstGeom>
          <a:solidFill>
            <a:srgbClr val="EEF3FB"/>
          </a:solidFill>
          <a:ln w="12700">
            <a:solidFill>
              <a:srgbClr val="EEF3FB"/>
            </a:solidFill>
            <a:prstDash val="solid"/>
          </a:ln>
        </p:spPr>
      </p:sp>
      <p:sp>
        <p:nvSpPr>
          <p:cNvPr id="5" name="Text 2"/>
          <p:cNvSpPr txBox="1"/>
          <p:nvPr/>
        </p:nvSpPr>
        <p:spPr>
          <a:xfrm>
            <a:off x="7772400" y="1600200"/>
            <a:ext cx="3886200" cy="914400"/>
          </a:xfrm>
          <a:prstGeom prst="rect">
            <a:avLst/>
          </a:prstGeom>
          <a:noFill/>
          <a:ln/>
        </p:spPr>
        <p:txBody>
          <a:bodyPr wrap="square" lIns="0" tIns="0" rIns="0" bIns="0" rtlCol="0" anchor="ctr"/>
          <a:lstStyle/>
          <a:p>
            <a:pPr algn="ctr" indent="0" marL="0">
              <a:buNone/>
            </a:pPr>
            <a:r>
              <a:rPr lang="en-US" sz="4800" b="1" dirty="0">
                <a:solidFill>
                  <a:srgbClr val="0B3D91"/>
                </a:solidFill>
                <a:latin typeface="Cambria" pitchFamily="34" charset="0"/>
                <a:ea typeface="Cambria" pitchFamily="34" charset="-122"/>
                <a:cs typeface="Cambria" pitchFamily="34" charset="-120"/>
              </a:rPr>
              <a:t>44/44</a:t>
            </a:r>
            <a:endParaRPr lang="en-US" sz="4800" dirty="0"/>
          </a:p>
        </p:txBody>
      </p:sp>
      <p:sp>
        <p:nvSpPr>
          <p:cNvPr id="6" name="Text 3"/>
          <p:cNvSpPr txBox="1"/>
          <p:nvPr/>
        </p:nvSpPr>
        <p:spPr>
          <a:xfrm>
            <a:off x="7772400" y="2560320"/>
            <a:ext cx="3886200" cy="411480"/>
          </a:xfrm>
          <a:prstGeom prst="rect">
            <a:avLst/>
          </a:prstGeom>
          <a:noFill/>
          <a:ln/>
        </p:spPr>
        <p:txBody>
          <a:bodyPr wrap="square" lIns="0" tIns="0" rIns="0" bIns="0" rtlCol="0" anchor="ctr"/>
          <a:lstStyle/>
          <a:p>
            <a:pPr algn="ctr" indent="0" marL="0">
              <a:buNone/>
            </a:pPr>
            <a:r>
              <a:rPr lang="en-US" sz="1500" dirty="0">
                <a:solidFill>
                  <a:srgbClr val="334155"/>
                </a:solidFill>
              </a:rPr>
              <a:t>test case đạt</a:t>
            </a:r>
            <a:endParaRPr lang="en-US" sz="1500" dirty="0"/>
          </a:p>
        </p:txBody>
      </p:sp>
      <p:sp>
        <p:nvSpPr>
          <p:cNvPr id="7" name="Shape 4"/>
          <p:cNvSpPr/>
          <p:nvPr/>
        </p:nvSpPr>
        <p:spPr>
          <a:xfrm>
            <a:off x="7772400" y="3429000"/>
            <a:ext cx="3886200" cy="1737360"/>
          </a:xfrm>
          <a:prstGeom prst="roundRect">
            <a:avLst>
              <a:gd name="adj" fmla="val 6316"/>
            </a:avLst>
          </a:prstGeom>
          <a:solidFill>
            <a:srgbClr val="EEF3FB"/>
          </a:solidFill>
          <a:ln w="12700">
            <a:solidFill>
              <a:srgbClr val="EEF3FB"/>
            </a:solidFill>
            <a:prstDash val="solid"/>
          </a:ln>
        </p:spPr>
      </p:sp>
      <p:sp>
        <p:nvSpPr>
          <p:cNvPr id="8" name="Text 5"/>
          <p:cNvSpPr txBox="1"/>
          <p:nvPr/>
        </p:nvSpPr>
        <p:spPr>
          <a:xfrm>
            <a:off x="7772400" y="3566160"/>
            <a:ext cx="3886200" cy="914400"/>
          </a:xfrm>
          <a:prstGeom prst="rect">
            <a:avLst/>
          </a:prstGeom>
          <a:noFill/>
          <a:ln/>
        </p:spPr>
        <p:txBody>
          <a:bodyPr wrap="square" lIns="0" tIns="0" rIns="0" bIns="0" rtlCol="0" anchor="ctr"/>
          <a:lstStyle/>
          <a:p>
            <a:pPr algn="ctr" indent="0" marL="0">
              <a:buNone/>
            </a:pPr>
            <a:r>
              <a:rPr lang="en-US" sz="4800" b="1" dirty="0">
                <a:solidFill>
                  <a:srgbClr val="16A34A"/>
                </a:solidFill>
                <a:latin typeface="Cambria" pitchFamily="34" charset="0"/>
                <a:ea typeface="Cambria" pitchFamily="34" charset="-122"/>
                <a:cs typeface="Cambria" pitchFamily="34" charset="-120"/>
              </a:rPr>
              <a:t>62/62</a:t>
            </a:r>
            <a:endParaRPr lang="en-US" sz="4800" dirty="0"/>
          </a:p>
        </p:txBody>
      </p:sp>
      <p:sp>
        <p:nvSpPr>
          <p:cNvPr id="9" name="Text 6"/>
          <p:cNvSpPr txBox="1"/>
          <p:nvPr/>
        </p:nvSpPr>
        <p:spPr>
          <a:xfrm>
            <a:off x="7772400" y="4526280"/>
            <a:ext cx="3886200" cy="411480"/>
          </a:xfrm>
          <a:prstGeom prst="rect">
            <a:avLst/>
          </a:prstGeom>
          <a:noFill/>
          <a:ln/>
        </p:spPr>
        <p:txBody>
          <a:bodyPr wrap="square" lIns="0" tIns="0" rIns="0" bIns="0" rtlCol="0" anchor="ctr"/>
          <a:lstStyle/>
          <a:p>
            <a:pPr algn="ctr" indent="0" marL="0">
              <a:buNone/>
            </a:pPr>
            <a:r>
              <a:rPr lang="en-US" sz="1500" dirty="0">
                <a:solidFill>
                  <a:srgbClr val="334155"/>
                </a:solidFill>
              </a:rPr>
              <a:t>lần kiểm tra tự động đạt</a:t>
            </a:r>
            <a:endParaRPr lang="en-US" sz="1500" dirty="0"/>
          </a:p>
        </p:txBody>
      </p:sp>
      <p:sp>
        <p:nvSpPr>
          <p:cNvPr id="10" name="Text 7"/>
          <p:cNvSpPr txBox="1"/>
          <p:nvPr/>
        </p:nvSpPr>
        <p:spPr>
          <a:xfrm>
            <a:off x="7772400" y="5440680"/>
            <a:ext cx="3886200" cy="777240"/>
          </a:xfrm>
          <a:prstGeom prst="rect">
            <a:avLst/>
          </a:prstGeom>
          <a:noFill/>
          <a:ln/>
        </p:spPr>
        <p:txBody>
          <a:bodyPr wrap="square" lIns="0" tIns="0" rIns="0" bIns="0" rtlCol="0" anchor="t"/>
          <a:lstStyle/>
          <a:p>
            <a:pPr indent="0" marL="0">
              <a:buNone/>
            </a:pPr>
            <a:r>
              <a:rPr lang="en-US" sz="1300" i="1" dirty="0">
                <a:solidFill>
                  <a:srgbClr val="64748B"/>
                </a:solidFill>
              </a:rPr>
              <a:t>Kiểm thử hộp đen: thủ công trên trình duyệt + kịch bản Python gửi request như trình duyệt thật (cookie, token CSRF)</a:t>
            </a:r>
            <a:endParaRPr lang="en-US" sz="13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Đánh giá so với mục tiêu</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840480"/>
                <a:gridCol w="5669280"/>
                <a:gridCol w="1554480"/>
              </a:tblGrid>
              <a:tr h="51206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Mục tiêu</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solidFill>
                      <a:srgbClr val="0B3D9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Kết quả</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solidFill>
                      <a:srgbClr val="0B3D9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Mức độ</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solidFill>
                      <a:srgbClr val="0B3D91"/>
                    </a:solidFill>
                  </a:tcPr>
                </a:tc>
              </a:tr>
              <a:tr h="512064">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Giới thiệu tập trung dự án khởi nghiệp</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Trang chủ, danh sách, chi tiết dự án đầy đủ thông tin</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Đạt</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r>
              <a:tr h="512064">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Nhiều sinh viên tự đăng dự án</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Đăng ký, đăng, cập nhật; chỉ sửa dự án của mình</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Đạt</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r>
              <a:tr h="512064">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Quy trình kiểm duyệt</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5 trạng thái; từ chối bắt buộc nêu lý do</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Đạt</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r>
              <a:tr h="512064">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Kết nối cộng đồng, doanh nghiệp</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Bình luận, đánh giá, bình chọn, liên hệ hợp tác</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Đạt</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r>
              <a:tr h="512064">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Quản trị và thống kê</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Dashboard 7 chỉ số, 4 biểu đồ; CRUD danh mục</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Đạt</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r>
              <a:tr h="512064">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Áp dụng kỹ thuật ASP.NET Core</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MVC, Area, EF Core, LINQ, DI, Cookie Auth</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Đạt</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r>
              <a:tr h="512064">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toàn thông tin</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Chống SQL Injection, XSS, CSRF; kiểm thử đạt</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algn="ctr" indent="0" marL="0">
                        <a:buNone/>
                      </a:pPr>
                      <a:r>
                        <a:rPr lang="en-US" sz="1400" b="1" dirty="0">
                          <a:solidFill>
                            <a:srgbClr val="16A34A"/>
                          </a:solidFill>
                          <a:latin typeface="Calibri" pitchFamily="34" charset="0"/>
                          <a:ea typeface="Calibri" pitchFamily="34" charset="-122"/>
                          <a:cs typeface="Calibri" pitchFamily="34" charset="-120"/>
                        </a:rPr>
                        <a:t>Đạt</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r>
              <a:tr h="512064">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Triển khai lên Internet</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Đã publish thử; chưa đưa lên máy chủ</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c>
                  <a:txBody>
                    <a:bodyPr/>
                    <a:lstStyle/>
                    <a:p>
                      <a:pPr algn="ctr" indent="0" marL="0">
                        <a:buNone/>
                      </a:pPr>
                      <a:r>
                        <a:rPr lang="en-US" sz="1400" b="1" dirty="0">
                          <a:solidFill>
                            <a:srgbClr val="DC2626"/>
                          </a:solidFill>
                          <a:latin typeface="Calibri" pitchFamily="34" charset="0"/>
                          <a:ea typeface="Calibri" pitchFamily="34" charset="-122"/>
                          <a:cs typeface="Calibri" pitchFamily="34" charset="-120"/>
                        </a:rPr>
                        <a:t>Chưa đạt</a:t>
                      </a:r>
                      <a:endParaRPr lang="en-US" sz="1400" dirty="0">
                        <a:latin typeface="Calibri" charset="0"/>
                        <a:ea typeface="Calibri" charset="0"/>
                        <a:cs typeface="Calibri" charset="0"/>
                      </a:endParaRPr>
                    </a:p>
                  </a:txBody>
                  <a:tcPr marL="91440" marR="91440" marT="45720" marB="45720" anchor="ctr">
                    <a:lnL w="9525" cap="flat" cmpd="sng" algn="ctr">
                      <a:solidFill>
                        <a:srgbClr val="D7DFEC"/>
                      </a:solidFill>
                      <a:prstDash val="solid"/>
                      <a:round/>
                      <a:headEnd type="none" w="med" len="med"/>
                      <a:tailEnd type="none" w="med" len="med"/>
                    </a:lnL>
                    <a:lnR w="9525" cap="flat" cmpd="sng" algn="ctr">
                      <a:solidFill>
                        <a:srgbClr val="D7DFEC"/>
                      </a:solidFill>
                      <a:prstDash val="solid"/>
                      <a:round/>
                      <a:headEnd type="none" w="med" len="med"/>
                      <a:tailEnd type="none" w="med" len="med"/>
                    </a:lnR>
                    <a:lnT w="9525" cap="flat" cmpd="sng" algn="ctr">
                      <a:solidFill>
                        <a:srgbClr val="D7DFEC"/>
                      </a:solidFill>
                      <a:prstDash val="solid"/>
                      <a:round/>
                      <a:headEnd type="none" w="med" len="med"/>
                      <a:tailEnd type="none" w="med" len="med"/>
                    </a:lnT>
                    <a:lnB w="9525" cap="flat" cmpd="sng" algn="ctr">
                      <a:solidFill>
                        <a:srgbClr val="D7DFE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rgbClr val="0B3D91"/>
                </a:solidFill>
                <a:latin typeface="Cambria" pitchFamily="34" charset="0"/>
                <a:ea typeface="Cambria" pitchFamily="34" charset="-122"/>
                <a:cs typeface="Cambria" pitchFamily="34" charset="-120"/>
              </a:rPr>
              <a:t>Hạn chế và hướng phát triển</a:t>
            </a:r>
            <a:endParaRPr lang="en-US" sz="3200" dirty="0"/>
          </a:p>
        </p:txBody>
      </p:sp>
      <p:sp>
        <p:nvSpPr>
          <p:cNvPr id="3" name="Shape 1"/>
          <p:cNvSpPr/>
          <p:nvPr/>
        </p:nvSpPr>
        <p:spPr>
          <a:xfrm>
            <a:off x="548640" y="1371600"/>
            <a:ext cx="5440680" cy="4023360"/>
          </a:xfrm>
          <a:prstGeom prst="roundRect">
            <a:avLst>
              <a:gd name="adj" fmla="val 2727"/>
            </a:avLst>
          </a:prstGeom>
          <a:solidFill>
            <a:srgbClr val="EEF3FB"/>
          </a:solidFill>
          <a:ln w="12700">
            <a:solidFill>
              <a:srgbClr val="EEF3FB"/>
            </a:solidFill>
            <a:prstDash val="solid"/>
          </a:ln>
        </p:spPr>
      </p:sp>
      <p:sp>
        <p:nvSpPr>
          <p:cNvPr id="4" name="Shape 2"/>
          <p:cNvSpPr/>
          <p:nvPr/>
        </p:nvSpPr>
        <p:spPr>
          <a:xfrm>
            <a:off x="868680" y="1645920"/>
            <a:ext cx="640080" cy="640080"/>
          </a:xfrm>
          <a:prstGeom prst="ellipse">
            <a:avLst/>
          </a:prstGeom>
          <a:solidFill>
            <a:srgbClr val="DC2626"/>
          </a:solidFill>
          <a:ln w="12700">
            <a:solidFill>
              <a:srgbClr val="DC2626"/>
            </a:solidFill>
            <a:prstDash val="solid"/>
          </a:ln>
        </p:spPr>
      </p:sp>
      <p:pic>
        <p:nvPicPr>
          <p:cNvPr id="5" name="Image 0" descr="preencoded.png">    </p:cNvPr>
          <p:cNvPicPr>
            <a:picLocks noChangeAspect="1"/>
          </p:cNvPicPr>
          <p:nvPr/>
        </p:nvPicPr>
        <p:blipFill>
          <a:blip r:embed="rId1"/>
          <a:stretch>
            <a:fillRect/>
          </a:stretch>
        </p:blipFill>
        <p:spPr>
          <a:xfrm>
            <a:off x="1022299" y="1799539"/>
            <a:ext cx="332842" cy="332842"/>
          </a:xfrm>
          <a:prstGeom prst="rect">
            <a:avLst/>
          </a:prstGeom>
        </p:spPr>
      </p:pic>
      <p:sp>
        <p:nvSpPr>
          <p:cNvPr id="6" name="Text 3"/>
          <p:cNvSpPr txBox="1"/>
          <p:nvPr/>
        </p:nvSpPr>
        <p:spPr>
          <a:xfrm>
            <a:off x="1691640" y="1645920"/>
            <a:ext cx="4023360" cy="640080"/>
          </a:xfrm>
          <a:prstGeom prst="rect">
            <a:avLst/>
          </a:prstGeom>
          <a:noFill/>
          <a:ln/>
        </p:spPr>
        <p:txBody>
          <a:bodyPr wrap="square" lIns="0" tIns="0" rIns="0" bIns="0" rtlCol="0" anchor="ctr"/>
          <a:lstStyle/>
          <a:p>
            <a:pPr indent="0" marL="0">
              <a:buNone/>
            </a:pPr>
            <a:r>
              <a:rPr lang="en-US" sz="2200" b="1" dirty="0">
                <a:solidFill>
                  <a:srgbClr val="DC2626"/>
                </a:solidFill>
              </a:rPr>
              <a:t>Hạn chế</a:t>
            </a:r>
            <a:endParaRPr lang="en-US" sz="2200" dirty="0"/>
          </a:p>
        </p:txBody>
      </p:sp>
      <p:sp>
        <p:nvSpPr>
          <p:cNvPr id="7" name="Text 4"/>
          <p:cNvSpPr txBox="1"/>
          <p:nvPr/>
        </p:nvSpPr>
        <p:spPr>
          <a:xfrm>
            <a:off x="868680" y="2514600"/>
            <a:ext cx="4846320" cy="2651760"/>
          </a:xfrm>
          <a:prstGeom prst="rect">
            <a:avLst/>
          </a:prstGeom>
          <a:noFill/>
          <a:ln/>
        </p:spPr>
        <p:txBody>
          <a:bodyPr wrap="square" rtlCol="0" anchor="t"/>
          <a:lstStyle/>
          <a:p>
            <a:pPr marL="342900" indent="-342900">
              <a:spcAft>
                <a:spcPts val="1400"/>
              </a:spcAft>
              <a:buSzPct val="100000"/>
              <a:buChar char="•"/>
            </a:pPr>
            <a:r>
              <a:rPr lang="en-US" sz="1700" dirty="0">
                <a:solidFill>
                  <a:srgbClr val="334155"/>
                </a:solidFill>
              </a:rPr>
              <a:t>Chưa gửi email: quên mật khẩu, thông báo kết quả duyệt</a:t>
            </a:r>
            <a:endParaRPr lang="en-US" sz="1700" dirty="0"/>
          </a:p>
          <a:p>
            <a:pPr marL="342900" indent="-342900">
              <a:spcAft>
                <a:spcPts val="1400"/>
              </a:spcAft>
              <a:buSzPct val="100000"/>
              <a:buChar char="•"/>
            </a:pPr>
            <a:r>
              <a:rPr lang="en-US" sz="1700" dirty="0">
                <a:solidFill>
                  <a:srgbClr val="334155"/>
                </a:solidFill>
              </a:rPr>
              <a:t>Chưa đăng nhập bằng tài khoản email của Trường</a:t>
            </a:r>
            <a:endParaRPr lang="en-US" sz="1700" dirty="0"/>
          </a:p>
          <a:p>
            <a:pPr marL="342900" indent="-342900">
              <a:spcAft>
                <a:spcPts val="1400"/>
              </a:spcAft>
              <a:buSzPct val="100000"/>
              <a:buChar char="•"/>
            </a:pPr>
            <a:r>
              <a:rPr lang="en-US" sz="1700" dirty="0">
                <a:solidFill>
                  <a:srgbClr val="334155"/>
                </a:solidFill>
              </a:rPr>
              <a:t>Chưa triển khai lên máy chủ Internet</a:t>
            </a:r>
            <a:endParaRPr lang="en-US" sz="1700" dirty="0"/>
          </a:p>
          <a:p>
            <a:pPr marL="342900" indent="-342900">
              <a:spcAft>
                <a:spcPts val="1400"/>
              </a:spcAft>
              <a:buSzPct val="100000"/>
              <a:buChar char="•"/>
            </a:pPr>
            <a:r>
              <a:rPr lang="en-US" sz="1700" dirty="0">
                <a:solidFill>
                  <a:srgbClr val="334155"/>
                </a:solidFill>
              </a:rPr>
              <a:t>Dữ liệu chủ yếu là dữ liệu mẫu</a:t>
            </a:r>
            <a:endParaRPr lang="en-US" sz="1700" dirty="0"/>
          </a:p>
        </p:txBody>
      </p:sp>
      <p:sp>
        <p:nvSpPr>
          <p:cNvPr id="8" name="Shape 5"/>
          <p:cNvSpPr/>
          <p:nvPr/>
        </p:nvSpPr>
        <p:spPr>
          <a:xfrm>
            <a:off x="6172200" y="1371600"/>
            <a:ext cx="5440680" cy="4023360"/>
          </a:xfrm>
          <a:prstGeom prst="roundRect">
            <a:avLst>
              <a:gd name="adj" fmla="val 2727"/>
            </a:avLst>
          </a:prstGeom>
          <a:solidFill>
            <a:srgbClr val="EEF3FB"/>
          </a:solidFill>
          <a:ln w="12700">
            <a:solidFill>
              <a:srgbClr val="EEF3FB"/>
            </a:solidFill>
            <a:prstDash val="solid"/>
          </a:ln>
        </p:spPr>
      </p:sp>
      <p:sp>
        <p:nvSpPr>
          <p:cNvPr id="9" name="Shape 6"/>
          <p:cNvSpPr/>
          <p:nvPr/>
        </p:nvSpPr>
        <p:spPr>
          <a:xfrm>
            <a:off x="6492240" y="1645920"/>
            <a:ext cx="640080" cy="640080"/>
          </a:xfrm>
          <a:prstGeom prst="ellipse">
            <a:avLst/>
          </a:prstGeom>
          <a:solidFill>
            <a:srgbClr val="16A34A"/>
          </a:solidFill>
          <a:ln w="12700">
            <a:solidFill>
              <a:srgbClr val="16A34A"/>
            </a:solidFill>
            <a:prstDash val="solid"/>
          </a:ln>
        </p:spPr>
      </p:sp>
      <p:pic>
        <p:nvPicPr>
          <p:cNvPr id="10" name="Image 1" descr="preencoded.png">    </p:cNvPr>
          <p:cNvPicPr>
            <a:picLocks noChangeAspect="1"/>
          </p:cNvPicPr>
          <p:nvPr/>
        </p:nvPicPr>
        <p:blipFill>
          <a:blip r:embed="rId2"/>
          <a:stretch>
            <a:fillRect/>
          </a:stretch>
        </p:blipFill>
        <p:spPr>
          <a:xfrm>
            <a:off x="6645859" y="1799539"/>
            <a:ext cx="332842" cy="332842"/>
          </a:xfrm>
          <a:prstGeom prst="rect">
            <a:avLst/>
          </a:prstGeom>
        </p:spPr>
      </p:pic>
      <p:sp>
        <p:nvSpPr>
          <p:cNvPr id="11" name="Text 7"/>
          <p:cNvSpPr txBox="1"/>
          <p:nvPr/>
        </p:nvSpPr>
        <p:spPr>
          <a:xfrm>
            <a:off x="7315200" y="1645920"/>
            <a:ext cx="4023360" cy="640080"/>
          </a:xfrm>
          <a:prstGeom prst="rect">
            <a:avLst/>
          </a:prstGeom>
          <a:noFill/>
          <a:ln/>
        </p:spPr>
        <p:txBody>
          <a:bodyPr wrap="square" lIns="0" tIns="0" rIns="0" bIns="0" rtlCol="0" anchor="ctr"/>
          <a:lstStyle/>
          <a:p>
            <a:pPr indent="0" marL="0">
              <a:buNone/>
            </a:pPr>
            <a:r>
              <a:rPr lang="en-US" sz="2200" b="1" dirty="0">
                <a:solidFill>
                  <a:srgbClr val="16A34A"/>
                </a:solidFill>
              </a:rPr>
              <a:t>Hướng phát triển</a:t>
            </a:r>
            <a:endParaRPr lang="en-US" sz="2200" dirty="0"/>
          </a:p>
        </p:txBody>
      </p:sp>
      <p:sp>
        <p:nvSpPr>
          <p:cNvPr id="12" name="Text 8"/>
          <p:cNvSpPr txBox="1"/>
          <p:nvPr/>
        </p:nvSpPr>
        <p:spPr>
          <a:xfrm>
            <a:off x="6492240" y="2514600"/>
            <a:ext cx="4846320" cy="2651760"/>
          </a:xfrm>
          <a:prstGeom prst="rect">
            <a:avLst/>
          </a:prstGeom>
          <a:noFill/>
          <a:ln/>
        </p:spPr>
        <p:txBody>
          <a:bodyPr wrap="square" rtlCol="0" anchor="t"/>
          <a:lstStyle/>
          <a:p>
            <a:pPr marL="342900" indent="-342900">
              <a:spcAft>
                <a:spcPts val="1400"/>
              </a:spcAft>
              <a:buSzPct val="100000"/>
              <a:buChar char="•"/>
            </a:pPr>
            <a:r>
              <a:rPr lang="en-US" sz="1700" dirty="0">
                <a:solidFill>
                  <a:srgbClr val="334155"/>
                </a:solidFill>
              </a:rPr>
              <a:t>Tích hợp SMTP gửi email thông báo</a:t>
            </a:r>
            <a:endParaRPr lang="en-US" sz="1700" dirty="0"/>
          </a:p>
          <a:p>
            <a:pPr marL="342900" indent="-342900">
              <a:spcAft>
                <a:spcPts val="1400"/>
              </a:spcAft>
              <a:buSzPct val="100000"/>
              <a:buChar char="•"/>
            </a:pPr>
            <a:r>
              <a:rPr lang="en-US" sz="1700" dirty="0">
                <a:solidFill>
                  <a:srgbClr val="334155"/>
                </a:solidFill>
              </a:rPr>
              <a:t>Đăng nhập một lần (SSO) Google / Microsoft</a:t>
            </a:r>
            <a:endParaRPr lang="en-US" sz="1700" dirty="0"/>
          </a:p>
          <a:p>
            <a:pPr marL="342900" indent="-342900">
              <a:spcAft>
                <a:spcPts val="1400"/>
              </a:spcAft>
              <a:buSzPct val="100000"/>
              <a:buChar char="•"/>
            </a:pPr>
            <a:r>
              <a:rPr lang="en-US" sz="1700" dirty="0">
                <a:solidFill>
                  <a:srgbClr val="334155"/>
                </a:solidFill>
              </a:rPr>
              <a:t>Triển khai IIS hoặc Docker, nâng cấp .NET 10 LTS</a:t>
            </a:r>
            <a:endParaRPr lang="en-US" sz="1700" dirty="0"/>
          </a:p>
          <a:p>
            <a:pPr marL="342900" indent="-342900">
              <a:spcAft>
                <a:spcPts val="1400"/>
              </a:spcAft>
              <a:buSzPct val="100000"/>
              <a:buChar char="•"/>
            </a:pPr>
            <a:r>
              <a:rPr lang="en-US" sz="1700" dirty="0">
                <a:solidFill>
                  <a:srgbClr val="334155"/>
                </a:solidFill>
              </a:rPr>
              <a:t>Web API (JWT) cho ứng dụng di động; quản lý cuộc thi khởi nghiệp</a:t>
            </a:r>
            <a:endParaRPr lang="en-US" sz="1700" dirty="0"/>
          </a:p>
        </p:txBody>
      </p:sp>
      <p:sp>
        <p:nvSpPr>
          <p:cNvPr id="25" name="Slide Number Placeholder 0"/>
          <p:cNvSpPr>
            <a:spLocks noGrp="1"/>
          </p:cNvSpPr>
          <p:nvPr>
            <p:ph type="sldNum" sz="quarter" idx="4294967295"/>
          </p:nvPr>
        </p:nvSpPr>
        <p:spPr>
          <a:xfrm>
            <a:off x="11155680"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777240"/>
            <a:ext cx="6400800" cy="365760"/>
          </a:xfrm>
          <a:prstGeom prst="rect">
            <a:avLst/>
          </a:prstGeom>
          <a:noFill/>
          <a:ln/>
        </p:spPr>
        <p:txBody>
          <a:bodyPr wrap="square" lIns="0" tIns="0" rIns="0" bIns="0" rtlCol="0" anchor="ctr"/>
          <a:lstStyle/>
          <a:p>
            <a:pPr indent="0" marL="0">
              <a:buNone/>
            </a:pPr>
            <a:r>
              <a:rPr lang="en-US" sz="1400" b="1" spc="100" kern="0" dirty="0">
                <a:solidFill>
                  <a:srgbClr val="F59E0B"/>
                </a:solidFill>
              </a:rPr>
              <a:t>KẾT LUẬN</a:t>
            </a:r>
            <a:endParaRPr lang="en-US" sz="1400" dirty="0"/>
          </a:p>
        </p:txBody>
      </p:sp>
      <p:sp>
        <p:nvSpPr>
          <p:cNvPr id="3" name="Text 0"/>
          <p:cNvSpPr/>
          <p:nvPr>
            <p:ph idx="100" type="title" hasCustomPrompt="1"/>
          </p:nvPr>
        </p:nvSpPr>
        <p:spPr>
          <a:xfrm>
            <a:off x="640080" y="1417320"/>
            <a:ext cx="6766560" cy="219456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Cảm ơn quý thầy cô đã lắng nghe</a:t>
            </a:r>
            <a:endParaRPr lang="en-US" sz="3400" dirty="0"/>
          </a:p>
        </p:txBody>
      </p:sp>
      <p:sp>
        <p:nvSpPr>
          <p:cNvPr id="4" name="Text 2"/>
          <p:cNvSpPr txBox="1"/>
          <p:nvPr/>
        </p:nvSpPr>
        <p:spPr>
          <a:xfrm>
            <a:off x="640080" y="2606040"/>
            <a:ext cx="6766560" cy="2011680"/>
          </a:xfrm>
          <a:prstGeom prst="rect">
            <a:avLst/>
          </a:prstGeom>
          <a:noFill/>
          <a:ln/>
        </p:spPr>
        <p:txBody>
          <a:bodyPr wrap="square" rtlCol="0" anchor="ctr"/>
          <a:lstStyle/>
          <a:p>
            <a:pPr marL="342900" indent="-342900">
              <a:spcAft>
                <a:spcPts val="1000"/>
              </a:spcAft>
              <a:buSzPct val="100000"/>
              <a:buChar char="•"/>
            </a:pPr>
            <a:r>
              <a:rPr lang="en-US" sz="1800" dirty="0">
                <a:solidFill>
                  <a:srgbClr val="FFFFFF"/>
                </a:solidFill>
              </a:rPr>
              <a:t>Website hoàn chỉnh: 3 tác nhân, 24 chức năng, quy trình kiểm duyệt rõ ràng</a:t>
            </a:r>
            <a:endParaRPr lang="en-US" sz="1800" dirty="0"/>
          </a:p>
          <a:p>
            <a:pPr marL="342900" indent="-342900">
              <a:spcAft>
                <a:spcPts val="1000"/>
              </a:spcAft>
              <a:buSzPct val="100000"/>
              <a:buChar char="•"/>
            </a:pPr>
            <a:r>
              <a:rPr lang="en-US" sz="1800" dirty="0">
                <a:solidFill>
                  <a:srgbClr val="FFFFFF"/>
                </a:solidFill>
              </a:rPr>
              <a:t>Áp dụng toàn diện ASP.NET Core MVC, EF Core, SQL Server và bảo mật web</a:t>
            </a:r>
            <a:endParaRPr lang="en-US" sz="1800" dirty="0"/>
          </a:p>
          <a:p>
            <a:pPr marL="342900" indent="-342900">
              <a:spcAft>
                <a:spcPts val="1000"/>
              </a:spcAft>
              <a:buSzPct val="100000"/>
              <a:buChar char="•"/>
            </a:pPr>
            <a:r>
              <a:rPr lang="en-US" sz="1800" dirty="0">
                <a:solidFill>
                  <a:srgbClr val="FFFFFF"/>
                </a:solidFill>
              </a:rPr>
              <a:t>Hồ sơ phân tích thiết kế đầy đủ; kiểm thử 44/44 test case đạt</a:t>
            </a:r>
            <a:endParaRPr lang="en-US" sz="1800" dirty="0"/>
          </a:p>
        </p:txBody>
      </p:sp>
      <p:sp>
        <p:nvSpPr>
          <p:cNvPr id="5" name="Shape 3"/>
          <p:cNvSpPr/>
          <p:nvPr/>
        </p:nvSpPr>
        <p:spPr>
          <a:xfrm>
            <a:off x="640080" y="5440680"/>
            <a:ext cx="548640" cy="548640"/>
          </a:xfrm>
          <a:prstGeom prst="ellipse">
            <a:avLst/>
          </a:prstGeom>
          <a:solidFill>
            <a:srgbClr val="F59E0B"/>
          </a:solidFill>
          <a:ln w="12700">
            <a:solidFill>
              <a:srgbClr val="F59E0B"/>
            </a:solidFill>
            <a:prstDash val="solid"/>
          </a:ln>
        </p:spPr>
      </p:sp>
      <p:pic>
        <p:nvPicPr>
          <p:cNvPr id="6" name="Image 0" descr="preencoded.png">    </p:cNvPr>
          <p:cNvPicPr>
            <a:picLocks noChangeAspect="1"/>
          </p:cNvPicPr>
          <p:nvPr/>
        </p:nvPicPr>
        <p:blipFill>
          <a:blip r:embed="rId1"/>
          <a:stretch>
            <a:fillRect/>
          </a:stretch>
        </p:blipFill>
        <p:spPr>
          <a:xfrm>
            <a:off x="771754" y="5572354"/>
            <a:ext cx="285293" cy="285293"/>
          </a:xfrm>
          <a:prstGeom prst="rect">
            <a:avLst/>
          </a:prstGeom>
        </p:spPr>
      </p:pic>
      <p:sp>
        <p:nvSpPr>
          <p:cNvPr id="7" name="Text 4"/>
          <p:cNvSpPr txBox="1"/>
          <p:nvPr/>
        </p:nvSpPr>
        <p:spPr>
          <a:xfrm>
            <a:off x="1371600" y="5440680"/>
            <a:ext cx="5486400" cy="548640"/>
          </a:xfrm>
          <a:prstGeom prst="rect">
            <a:avLst/>
          </a:prstGeom>
          <a:noFill/>
          <a:ln/>
        </p:spPr>
        <p:txBody>
          <a:bodyPr wrap="square" lIns="0" tIns="0" rIns="0" bIns="0" rtlCol="0" anchor="ctr"/>
          <a:lstStyle/>
          <a:p>
            <a:pPr indent="0" marL="0">
              <a:buNone/>
            </a:pPr>
            <a:r>
              <a:rPr lang="en-US" sz="1800" b="1" dirty="0">
                <a:solidFill>
                  <a:srgbClr val="FFFFFF"/>
                </a:solidFill>
              </a:rPr>
              <a:t>github.com/taophuong/TVU</a:t>
            </a:r>
            <a:endParaRPr lang="en-US" sz="1800" dirty="0"/>
          </a:p>
        </p:txBody>
      </p:sp>
      <p:pic>
        <p:nvPicPr>
          <p:cNvPr id="8" name="Image 1" descr="D:/Desktop/TVU - BT/DA THI/ASP.NET/BAO CAO/PHẠM TUẤN ANH - MSSV 170122372 - ASP.NET/PkuongProject/docs/screenshots/k10_dien_thoai_trang_chu.png">    </p:cNvPr>
          <p:cNvPicPr>
            <a:picLocks noChangeAspect="1"/>
          </p:cNvPicPr>
          <p:nvPr/>
        </p:nvPicPr>
        <p:blipFill>
          <a:blip r:embed="rId2"/>
          <a:stretch>
            <a:fillRect/>
          </a:stretch>
        </p:blipFill>
        <p:spPr>
          <a:xfrm>
            <a:off x="8526780" y="731520"/>
            <a:ext cx="2697480" cy="5394960"/>
          </a:xfrm>
          <a:prstGeom prst="rect">
            <a:avLst/>
          </a:prstGeom>
          <a:effectLst>
            <a:outerShdw sx="100000" sy="100000" kx="0" ky="0" algn="bl" rotWithShape="0" blurRad="101600" dist="38100" dir="5400000">
              <a:srgbClr val="000000">
                <a:alpha val="18000"/>
              </a:srgbClr>
            </a:outerShdw>
          </a:effectLst>
        </p:spPr>
      </p:pic>
    </p:spTree>
  </p:cSld>
  <p:clrMapOvr>
    <a:masterClrMapping/>
  </p:clrMapOvr>
</p:sld>
</file>

<file path=ppt/theme/theme1.xml><?xml version="1.0" encoding="utf-8"?>
<a:theme xmlns:a="http://schemas.openxmlformats.org/drawingml/2006/main" name="TVU Startup">
  <a:themeElements>
    <a:clrScheme name="TVU Startup">
      <a:dk1>
        <a:srgbClr val="0F172A"/>
      </a:dk1>
      <a:lt1>
        <a:srgbClr val="FFFFFF"/>
      </a:lt1>
      <a:dk2>
        <a:srgbClr val="0B3D91"/>
      </a:dk2>
      <a:lt2>
        <a:srgbClr val="EEF3FB"/>
      </a:lt2>
      <a:accent1>
        <a:srgbClr val="0B3D91"/>
      </a:accent1>
      <a:accent2>
        <a:srgbClr val="F59E0B"/>
      </a:accent2>
      <a:accent3>
        <a:srgbClr val="16A34A"/>
      </a:accent3>
      <a:accent4>
        <a:srgbClr val="DC2626"/>
      </a:accent4>
      <a:accent5>
        <a:srgbClr val="7C3AED"/>
      </a:accent5>
      <a:accent6>
        <a:srgbClr val="0891B2"/>
      </a:accent6>
      <a:hlink>
        <a:srgbClr val="0B3D91"/>
      </a:hlink>
      <a:folHlink>
        <a:srgbClr val="7C3AED"/>
      </a:folHlink>
    </a:clrScheme>
    <a:fontScheme name="TVU Startu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giới thiệu sản phẩm khởi nghiệp SV TVU</dc:title>
  <dc:subject>PptxGenJS Presentation</dc:subject>
  <dc:creator>Lê Văn Bình Phương</dc:creator>
  <cp:lastModifiedBy>Lê Văn Bình Phương</cp:lastModifiedBy>
  <cp:revision>1</cp:revision>
  <dcterms:created xsi:type="dcterms:W3CDTF">2026-10-28T13:22:20Z</dcterms:created>
  <dcterms:modified xsi:type="dcterms:W3CDTF">2026-10-28T13:22:20Z</dcterms:modified>
</cp:coreProperties>
</file>